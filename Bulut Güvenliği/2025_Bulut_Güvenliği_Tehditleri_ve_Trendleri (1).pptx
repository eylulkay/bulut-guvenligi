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843911"/>
            <a:ext cx="2397900" cy="623292"/>
          </a:xfrm>
          <a:prstGeom prst="rect">
            <a:avLst/>
          </a:prstGeom>
          <a:noFill/>
          <a:ln/>
        </p:spPr>
        <p:txBody>
          <a:bodyPr wrap="none" lIns="0" tIns="0" rIns="0" bIns="0" rtlCol="0" anchor="t">
            <a:spAutoFit/>
          </a:bodyPr>
          <a:lstStyle/>
          <a:p>
            <a:pPr algn="l" indent="0" marL="0">
              <a:lnSpc>
                <a:spcPts val="4000"/>
              </a:lnSpc>
              <a:buNone/>
            </a:pPr>
            <a:r>
              <a:rPr lang="en-US" sz="3294" b="1" spc="-1" kern="0" dirty="0">
                <a:solidFill>
                  <a:srgbClr val="FFFFFF"/>
                </a:solidFill>
              </a:rPr>
              <a:t>2025 Bulut</a:t>
            </a:r>
            <a:endParaRPr lang="en-US" sz="3294" dirty="0"/>
          </a:p>
        </p:txBody>
      </p:sp>
      <p:sp>
        <p:nvSpPr>
          <p:cNvPr id="4" name="Text 1"/>
          <p:cNvSpPr/>
          <p:nvPr/>
        </p:nvSpPr>
        <p:spPr>
          <a:xfrm>
            <a:off x="571500" y="1346820"/>
            <a:ext cx="2187439" cy="623292"/>
          </a:xfrm>
          <a:prstGeom prst="rect">
            <a:avLst/>
          </a:prstGeom>
          <a:noFill/>
          <a:ln/>
        </p:spPr>
        <p:txBody>
          <a:bodyPr wrap="none" lIns="0" tIns="0" rIns="0" bIns="0" rtlCol="0" anchor="t">
            <a:spAutoFit/>
          </a:bodyPr>
          <a:lstStyle/>
          <a:p>
            <a:pPr algn="l" indent="0" marL="0">
              <a:lnSpc>
                <a:spcPts val="4000"/>
              </a:lnSpc>
              <a:buNone/>
            </a:pPr>
            <a:r>
              <a:rPr lang="en-US" sz="3294" b="1" spc="-1" kern="0" dirty="0">
                <a:solidFill>
                  <a:srgbClr val="FFFFFF"/>
                </a:solidFill>
              </a:rPr>
              <a:t>Güvenliği</a:t>
            </a:r>
            <a:endParaRPr lang="en-US" sz="3294" dirty="0"/>
          </a:p>
        </p:txBody>
      </p:sp>
      <p:sp>
        <p:nvSpPr>
          <p:cNvPr id="5" name="Text 2"/>
          <p:cNvSpPr/>
          <p:nvPr/>
        </p:nvSpPr>
        <p:spPr>
          <a:xfrm>
            <a:off x="571500" y="1981888"/>
            <a:ext cx="4629150" cy="502909"/>
          </a:xfrm>
          <a:prstGeom prst="rect">
            <a:avLst/>
          </a:prstGeom>
          <a:noFill/>
          <a:ln/>
        </p:spPr>
        <p:txBody>
          <a:bodyPr wrap="none" lIns="0" tIns="0" rIns="0" bIns="0" rtlCol="0" anchor="t">
            <a:spAutoFit/>
          </a:bodyPr>
          <a:lstStyle/>
          <a:p>
            <a:pPr algn="l" indent="0" marL="0">
              <a:lnSpc>
                <a:spcPts val="4000"/>
              </a:lnSpc>
              <a:buNone/>
            </a:pPr>
            <a:r>
              <a:rPr lang="en-US" sz="3294" b="1" spc="-1" kern="0" dirty="0">
                <a:solidFill>
                  <a:srgbClr val="EF4444"/>
                </a:solidFill>
              </a:rPr>
              <a:t>Tehditleri ve</a:t>
            </a:r>
            <a:endParaRPr lang="en-US" sz="3294" dirty="0"/>
          </a:p>
        </p:txBody>
      </p:sp>
      <p:sp>
        <p:nvSpPr>
          <p:cNvPr id="6" name="Text 3"/>
          <p:cNvSpPr/>
          <p:nvPr/>
        </p:nvSpPr>
        <p:spPr>
          <a:xfrm>
            <a:off x="571500" y="2556235"/>
            <a:ext cx="4629150" cy="502909"/>
          </a:xfrm>
          <a:prstGeom prst="rect">
            <a:avLst/>
          </a:prstGeom>
          <a:noFill/>
          <a:ln/>
        </p:spPr>
        <p:txBody>
          <a:bodyPr wrap="none" lIns="0" tIns="0" rIns="0" bIns="0" rtlCol="0" anchor="t">
            <a:spAutoFit/>
          </a:bodyPr>
          <a:lstStyle/>
          <a:p>
            <a:pPr algn="l" indent="0" marL="0">
              <a:lnSpc>
                <a:spcPts val="4000"/>
              </a:lnSpc>
              <a:buNone/>
            </a:pPr>
            <a:r>
              <a:rPr lang="en-US" sz="3294" b="1" spc="-1" kern="0" dirty="0">
                <a:solidFill>
                  <a:srgbClr val="EF4444"/>
                </a:solidFill>
              </a:rPr>
              <a:t>Trendleri</a:t>
            </a:r>
            <a:endParaRPr lang="en-US" sz="3294" dirty="0"/>
          </a:p>
        </p:txBody>
      </p:sp>
      <p:sp>
        <p:nvSpPr>
          <p:cNvPr id="7" name="Text 4"/>
          <p:cNvSpPr/>
          <p:nvPr/>
        </p:nvSpPr>
        <p:spPr>
          <a:xfrm>
            <a:off x="571500" y="3273456"/>
            <a:ext cx="4286250" cy="960053"/>
          </a:xfrm>
          <a:prstGeom prst="rect">
            <a:avLst/>
          </a:prstGeom>
          <a:noFill/>
          <a:ln/>
        </p:spPr>
        <p:txBody>
          <a:bodyPr wrap="square" lIns="0" tIns="0" rIns="0" bIns="0" rtlCol="0" anchor="t">
            <a:spAutoFit/>
          </a:bodyPr>
          <a:lstStyle/>
          <a:p>
            <a:pPr algn="l" indent="0" marL="0">
              <a:lnSpc>
                <a:spcPts val="2500"/>
              </a:lnSpc>
              <a:buNone/>
            </a:pPr>
            <a:r>
              <a:rPr lang="en-US" sz="1602" b="1" dirty="0">
                <a:solidFill>
                  <a:srgbClr val="E5E7EB"/>
                </a:solidFill>
              </a:rPr>
              <a:t>Yapay Zeka, Kimlik Yönetimi ve Veri İhlalleri Çağında Bulut Altyapısını Korumak</a:t>
            </a:r>
            <a:endParaRPr lang="en-US" sz="1602" dirty="0"/>
          </a:p>
        </p:txBody>
      </p:sp>
      <p:sp>
        <p:nvSpPr>
          <p:cNvPr id="8" name="Shape 5"/>
          <p:cNvSpPr/>
          <p:nvPr/>
        </p:nvSpPr>
        <p:spPr>
          <a:xfrm>
            <a:off x="571500" y="4662134"/>
            <a:ext cx="4629150" cy="405408"/>
          </a:xfrm>
          <a:prstGeom prst="rect">
            <a:avLst/>
          </a:prstGeom>
          <a:solidFill>
            <a:srgbClr val="3B82F6"/>
          </a:solidFill>
          <a:ln/>
        </p:spPr>
      </p:sp>
      <p:sp>
        <p:nvSpPr>
          <p:cNvPr id="9" name="Text 6"/>
          <p:cNvSpPr/>
          <p:nvPr/>
        </p:nvSpPr>
        <p:spPr>
          <a:xfrm>
            <a:off x="571500" y="4662134"/>
            <a:ext cx="4629150" cy="405408"/>
          </a:xfrm>
          <a:prstGeom prst="rect">
            <a:avLst/>
          </a:prstGeom>
          <a:noFill/>
          <a:ln/>
        </p:spPr>
        <p:txBody>
          <a:bodyPr wrap="square" lIns="255143" tIns="102108" rIns="255143" bIns="102108" rtlCol="0" anchor="t">
            <a:spAutoFit/>
          </a:bodyPr>
          <a:lstStyle/>
          <a:p>
            <a:pPr algn="l" indent="0" marL="0">
              <a:lnSpc>
                <a:spcPts val="1600"/>
              </a:lnSpc>
              <a:buNone/>
            </a:pPr>
            <a:r>
              <a:rPr lang="en-US" sz="1193" b="1" dirty="0">
                <a:solidFill>
                  <a:srgbClr val="FFFFFF"/>
                </a:solidFill>
              </a:rPr>
              <a:t>2025</a:t>
            </a:r>
            <a:endParaRPr lang="en-US" sz="1193" dirty="0"/>
          </a:p>
        </p:txBody>
      </p:sp>
      <p:sp>
        <p:nvSpPr>
          <p:cNvPr id="10" name="Shape 7"/>
          <p:cNvSpPr/>
          <p:nvPr/>
        </p:nvSpPr>
        <p:spPr>
          <a:xfrm>
            <a:off x="7429500" y="504583"/>
            <a:ext cx="1285875" cy="1285875"/>
          </a:xfrm>
          <a:prstGeom prst="ellipse">
            <a:avLst/>
          </a:prstGeom>
          <a:solidFill>
            <a:srgbClr val="EF4444">
              <a:alpha val="10000"/>
            </a:srgbClr>
          </a:solidFill>
          <a:ln w="27432">
            <a:solidFill>
              <a:srgbClr val="EF4444"/>
            </a:solidFill>
            <a:prstDash val="solid"/>
          </a:ln>
        </p:spPr>
      </p:sp>
      <p:pic>
        <p:nvPicPr>
          <p:cNvPr id="11" name="Image 1" descr="preencoded.png">    </p:cNvPr>
          <p:cNvPicPr>
            <a:picLocks noChangeAspect="1"/>
          </p:cNvPicPr>
          <p:nvPr/>
        </p:nvPicPr>
        <p:blipFill>
          <a:blip r:embed="rId2"/>
          <a:stretch>
            <a:fillRect/>
          </a:stretch>
        </p:blipFill>
        <p:spPr>
          <a:xfrm>
            <a:off x="7786688" y="861771"/>
            <a:ext cx="571500" cy="571500"/>
          </a:xfrm>
          <a:prstGeom prst="rect">
            <a:avLst/>
          </a:prstGeom>
        </p:spPr>
      </p:pic>
      <p:sp>
        <p:nvSpPr>
          <p:cNvPr id="12" name="Shape 8"/>
          <p:cNvSpPr/>
          <p:nvPr/>
        </p:nvSpPr>
        <p:spPr>
          <a:xfrm>
            <a:off x="7179469" y="2960136"/>
            <a:ext cx="714375" cy="714375"/>
          </a:xfrm>
          <a:prstGeom prst="rect">
            <a:avLst/>
          </a:prstGeom>
          <a:solidFill>
            <a:srgbClr val="3B82F6">
              <a:alpha val="10000"/>
            </a:srgbClr>
          </a:solidFill>
          <a:ln w="18288">
            <a:solidFill>
              <a:srgbClr val="3B82F6"/>
            </a:solidFill>
            <a:prstDash val="solid"/>
          </a:ln>
        </p:spPr>
      </p:sp>
      <p:pic>
        <p:nvPicPr>
          <p:cNvPr id="13" name="Image 2" descr="preencoded.png">    </p:cNvPr>
          <p:cNvPicPr>
            <a:picLocks noChangeAspect="1"/>
          </p:cNvPicPr>
          <p:nvPr/>
        </p:nvPicPr>
        <p:blipFill>
          <a:blip r:embed="rId3"/>
          <a:stretch>
            <a:fillRect/>
          </a:stretch>
        </p:blipFill>
        <p:spPr>
          <a:xfrm>
            <a:off x="7358063" y="3174448"/>
            <a:ext cx="357188" cy="285750"/>
          </a:xfrm>
          <a:prstGeom prst="rect">
            <a:avLst/>
          </a:prstGeom>
        </p:spPr>
      </p:pic>
      <p:sp>
        <p:nvSpPr>
          <p:cNvPr id="14" name="Shape 9"/>
          <p:cNvSpPr/>
          <p:nvPr/>
        </p:nvSpPr>
        <p:spPr>
          <a:xfrm>
            <a:off x="8001000" y="2960136"/>
            <a:ext cx="714375" cy="714375"/>
          </a:xfrm>
          <a:prstGeom prst="rect">
            <a:avLst/>
          </a:prstGeom>
          <a:solidFill>
            <a:srgbClr val="3B82F6">
              <a:alpha val="10000"/>
            </a:srgbClr>
          </a:solidFill>
          <a:ln w="18288">
            <a:solidFill>
              <a:srgbClr val="3B82F6"/>
            </a:solidFill>
            <a:prstDash val="solid"/>
          </a:ln>
        </p:spPr>
      </p:sp>
      <p:pic>
        <p:nvPicPr>
          <p:cNvPr id="15" name="Image 3" descr="preencoded.png">    </p:cNvPr>
          <p:cNvPicPr>
            <a:picLocks noChangeAspect="1"/>
          </p:cNvPicPr>
          <p:nvPr/>
        </p:nvPicPr>
        <p:blipFill>
          <a:blip r:embed="rId4"/>
          <a:stretch>
            <a:fillRect/>
          </a:stretch>
        </p:blipFill>
        <p:spPr>
          <a:xfrm>
            <a:off x="8215313" y="3174448"/>
            <a:ext cx="285750" cy="285750"/>
          </a:xfrm>
          <a:prstGeom prst="rect">
            <a:avLst/>
          </a:prstGeom>
        </p:spPr>
      </p:pic>
      <p:sp>
        <p:nvSpPr>
          <p:cNvPr id="16" name="Shape 10"/>
          <p:cNvSpPr/>
          <p:nvPr/>
        </p:nvSpPr>
        <p:spPr>
          <a:xfrm>
            <a:off x="7179469" y="3781667"/>
            <a:ext cx="714375" cy="714375"/>
          </a:xfrm>
          <a:prstGeom prst="rect">
            <a:avLst/>
          </a:prstGeom>
          <a:solidFill>
            <a:srgbClr val="3B82F6">
              <a:alpha val="10000"/>
            </a:srgbClr>
          </a:solidFill>
          <a:ln w="18288">
            <a:solidFill>
              <a:srgbClr val="3B82F6"/>
            </a:solidFill>
            <a:prstDash val="solid"/>
          </a:ln>
        </p:spPr>
      </p:sp>
      <p:pic>
        <p:nvPicPr>
          <p:cNvPr id="17" name="Image 4" descr="preencoded.png">    </p:cNvPr>
          <p:cNvPicPr>
            <a:picLocks noChangeAspect="1"/>
          </p:cNvPicPr>
          <p:nvPr/>
        </p:nvPicPr>
        <p:blipFill>
          <a:blip r:embed="rId5"/>
          <a:stretch>
            <a:fillRect/>
          </a:stretch>
        </p:blipFill>
        <p:spPr>
          <a:xfrm>
            <a:off x="7411641" y="3995979"/>
            <a:ext cx="250031" cy="285750"/>
          </a:xfrm>
          <a:prstGeom prst="rect">
            <a:avLst/>
          </a:prstGeom>
        </p:spPr>
      </p:pic>
      <p:sp>
        <p:nvSpPr>
          <p:cNvPr id="18" name="Shape 11"/>
          <p:cNvSpPr/>
          <p:nvPr/>
        </p:nvSpPr>
        <p:spPr>
          <a:xfrm>
            <a:off x="8001000" y="3781667"/>
            <a:ext cx="714375" cy="714375"/>
          </a:xfrm>
          <a:prstGeom prst="rect">
            <a:avLst/>
          </a:prstGeom>
          <a:solidFill>
            <a:srgbClr val="3B82F6">
              <a:alpha val="10000"/>
            </a:srgbClr>
          </a:solidFill>
          <a:ln w="18288">
            <a:solidFill>
              <a:srgbClr val="3B82F6"/>
            </a:solidFill>
            <a:prstDash val="solid"/>
          </a:ln>
        </p:spPr>
      </p:sp>
      <p:pic>
        <p:nvPicPr>
          <p:cNvPr id="19" name="Image 5" descr="preencoded.png">    </p:cNvPr>
          <p:cNvPicPr>
            <a:picLocks noChangeAspect="1"/>
          </p:cNvPicPr>
          <p:nvPr/>
        </p:nvPicPr>
        <p:blipFill>
          <a:blip r:embed="rId6"/>
          <a:stretch>
            <a:fillRect/>
          </a:stretch>
        </p:blipFill>
        <p:spPr>
          <a:xfrm>
            <a:off x="8233172" y="3995979"/>
            <a:ext cx="250031" cy="285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Şirketlerin %80'i Bulut Saldırılarında Artış Yaşadı</a:t>
            </a:r>
            <a:endParaRPr lang="en-US" sz="1602" dirty="0"/>
          </a:p>
        </p:txBody>
      </p:sp>
      <p:sp>
        <p:nvSpPr>
          <p:cNvPr id="6" name="Shape 3"/>
          <p:cNvSpPr/>
          <p:nvPr/>
        </p:nvSpPr>
        <p:spPr>
          <a:xfrm>
            <a:off x="857250" y="1328068"/>
            <a:ext cx="3500438" cy="1278731"/>
          </a:xfrm>
          <a:prstGeom prst="rect">
            <a:avLst/>
          </a:prstGeom>
          <a:solidFill>
            <a:srgbClr val="3B82F6">
              <a:alpha val="20000"/>
            </a:srgbClr>
          </a:solidFill>
          <a:ln w="18288">
            <a:solidFill>
              <a:srgbClr val="EF4444"/>
            </a:solidFill>
            <a:prstDash val="solid"/>
          </a:ln>
        </p:spPr>
      </p:sp>
      <p:sp>
        <p:nvSpPr>
          <p:cNvPr id="7" name="Text 4"/>
          <p:cNvSpPr/>
          <p:nvPr/>
        </p:nvSpPr>
        <p:spPr>
          <a:xfrm>
            <a:off x="1071563" y="1556668"/>
            <a:ext cx="3071813" cy="514350"/>
          </a:xfrm>
          <a:prstGeom prst="rect">
            <a:avLst/>
          </a:prstGeom>
          <a:noFill/>
          <a:ln/>
        </p:spPr>
        <p:txBody>
          <a:bodyPr wrap="none" lIns="0" tIns="0" rIns="0" bIns="0" rtlCol="0" anchor="t">
            <a:spAutoFit/>
          </a:bodyPr>
          <a:lstStyle/>
          <a:p>
            <a:pPr algn="l" indent="0" marL="0">
              <a:lnSpc>
                <a:spcPts val="4100"/>
              </a:lnSpc>
              <a:buNone/>
            </a:pPr>
            <a:r>
              <a:rPr lang="en-US" sz="3731" b="1" dirty="0">
                <a:solidFill>
                  <a:srgbClr val="EF4444"/>
                </a:solidFill>
              </a:rPr>
              <a:t>80%</a:t>
            </a:r>
            <a:endParaRPr lang="en-US" sz="3731" dirty="0"/>
          </a:p>
        </p:txBody>
      </p:sp>
      <p:sp>
        <p:nvSpPr>
          <p:cNvPr id="8" name="Text 5"/>
          <p:cNvSpPr/>
          <p:nvPr/>
        </p:nvSpPr>
        <p:spPr>
          <a:xfrm>
            <a:off x="1071563" y="2178174"/>
            <a:ext cx="3071813"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E5E7EB"/>
                </a:solidFill>
              </a:rPr>
              <a:t>Şirketler Bulut Saldırılarında Artış Bildirdi</a:t>
            </a:r>
            <a:endParaRPr lang="en-US" sz="987" dirty="0"/>
          </a:p>
        </p:txBody>
      </p:sp>
      <p:sp>
        <p:nvSpPr>
          <p:cNvPr id="9" name="Text 6"/>
          <p:cNvSpPr/>
          <p:nvPr/>
        </p:nvSpPr>
        <p:spPr>
          <a:xfrm>
            <a:off x="857250" y="2806824"/>
            <a:ext cx="3500438"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SentinelOne raporuna göre, 2025'te bulut ortamlarına yönelik saldırılar rekor seviyelere ulaşmıştır. Bu saldırıların çeşitliliği, tek bir çözümle tüm tehditlere karşı korunmanın imkansız olduğunu ortaya koymaktadır.</a:t>
            </a:r>
            <a:endParaRPr lang="en-US" sz="834" dirty="0"/>
          </a:p>
        </p:txBody>
      </p:sp>
      <p:sp>
        <p:nvSpPr>
          <p:cNvPr id="10" name="Text 7"/>
          <p:cNvSpPr/>
          <p:nvPr/>
        </p:nvSpPr>
        <p:spPr>
          <a:xfrm>
            <a:off x="857250" y="3824027"/>
            <a:ext cx="714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B82F6"/>
                </a:solidFill>
              </a:rPr>
              <a:t></a:t>
            </a:r>
            <a:endParaRPr lang="en-US" sz="784" dirty="0"/>
          </a:p>
        </p:txBody>
      </p:sp>
      <p:sp>
        <p:nvSpPr>
          <p:cNvPr id="11" name="Text 8"/>
          <p:cNvSpPr/>
          <p:nvPr/>
        </p:nvSpPr>
        <p:spPr>
          <a:xfrm>
            <a:off x="1071563" y="3836529"/>
            <a:ext cx="3096174"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Bulut güvenliği artık tüm kurumsal stratejinin merkezinde olmalı</a:t>
            </a:r>
            <a:endParaRPr lang="en-US" sz="834" dirty="0"/>
          </a:p>
        </p:txBody>
      </p:sp>
      <p:sp>
        <p:nvSpPr>
          <p:cNvPr id="12" name="Text 9"/>
          <p:cNvSpPr/>
          <p:nvPr/>
        </p:nvSpPr>
        <p:spPr>
          <a:xfrm>
            <a:off x="857250" y="4275479"/>
            <a:ext cx="714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B82F6"/>
                </a:solidFill>
              </a:rPr>
              <a:t></a:t>
            </a:r>
            <a:endParaRPr lang="en-US" sz="784" dirty="0"/>
          </a:p>
        </p:txBody>
      </p:sp>
      <p:sp>
        <p:nvSpPr>
          <p:cNvPr id="13" name="Text 10"/>
          <p:cNvSpPr/>
          <p:nvPr/>
        </p:nvSpPr>
        <p:spPr>
          <a:xfrm>
            <a:off x="1071563" y="4287980"/>
            <a:ext cx="3283948"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5E7EB"/>
                </a:solidFill>
              </a:rPr>
              <a:t>Saldırı türleri çeşitliliği kapsamlı koruma stratejisi gerektiriyor</a:t>
            </a:r>
            <a:endParaRPr lang="en-US" sz="834" dirty="0"/>
          </a:p>
        </p:txBody>
      </p:sp>
      <p:sp>
        <p:nvSpPr>
          <p:cNvPr id="14" name="Text 11"/>
          <p:cNvSpPr/>
          <p:nvPr/>
        </p:nvSpPr>
        <p:spPr>
          <a:xfrm>
            <a:off x="857250" y="4544067"/>
            <a:ext cx="714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B82F6"/>
                </a:solidFill>
              </a:rPr>
              <a:t></a:t>
            </a:r>
            <a:endParaRPr lang="en-US" sz="784" dirty="0"/>
          </a:p>
        </p:txBody>
      </p:sp>
      <p:sp>
        <p:nvSpPr>
          <p:cNvPr id="15" name="Text 12"/>
          <p:cNvSpPr/>
          <p:nvPr/>
        </p:nvSpPr>
        <p:spPr>
          <a:xfrm>
            <a:off x="1071563" y="4556568"/>
            <a:ext cx="2766529"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5E7EB"/>
                </a:solidFill>
              </a:rPr>
              <a:t>Veri ihlalleri en yaygın saldırı türü olarak öne çıkıyor</a:t>
            </a:r>
            <a:endParaRPr lang="en-US" sz="834" dirty="0"/>
          </a:p>
        </p:txBody>
      </p:sp>
      <p:pic>
        <p:nvPicPr>
          <p:cNvPr id="16" name="Image 1" descr="preencoded.png">    </p:cNvPr>
          <p:cNvPicPr>
            <a:picLocks noChangeAspect="1"/>
          </p:cNvPicPr>
          <p:nvPr/>
        </p:nvPicPr>
        <p:blipFill>
          <a:blip r:embed="rId2"/>
          <a:stretch>
            <a:fillRect/>
          </a:stretch>
        </p:blipFill>
        <p:spPr>
          <a:xfrm>
            <a:off x="4786313" y="1509452"/>
            <a:ext cx="3500438" cy="2857500"/>
          </a:xfrm>
          <a:prstGeom prst="rect">
            <a:avLst/>
          </a:prstGeom>
        </p:spPr>
      </p:pic>
      <p:sp>
        <p:nvSpPr>
          <p:cNvPr id="17" name="Text 13"/>
          <p:cNvSpPr/>
          <p:nvPr/>
        </p:nvSpPr>
        <p:spPr>
          <a:xfrm>
            <a:off x="5902635" y="4688421"/>
            <a:ext cx="1267764" cy="135731"/>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3B82F6"/>
                </a:solidFill>
              </a:rPr>
              <a:t>Kaynak: SentinelOne 2025</a:t>
            </a:r>
            <a:endParaRPr lang="en-US" sz="6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3B82F6"/>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Kimlik Doğrulama Zafiyetleri Çoğu Bulut İhlaline Neden Oluyor</a:t>
            </a:r>
            <a:endParaRPr lang="en-US" sz="1602" dirty="0"/>
          </a:p>
        </p:txBody>
      </p:sp>
      <p:sp>
        <p:nvSpPr>
          <p:cNvPr id="6" name="Text 3"/>
          <p:cNvSpPr/>
          <p:nvPr/>
        </p:nvSpPr>
        <p:spPr>
          <a:xfrm>
            <a:off x="857250" y="1229255"/>
            <a:ext cx="4243388"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Bulut güvenliğinde en kritik unsur kimlik yönetimidir. Geçerli kimlik bilgisi elde eden saldırgan, altyapıda hızlıca hareket ederek erişimi yayabilir.</a:t>
            </a:r>
            <a:endParaRPr lang="en-US" sz="834" dirty="0"/>
          </a:p>
        </p:txBody>
      </p:sp>
      <p:sp>
        <p:nvSpPr>
          <p:cNvPr id="7" name="Shape 4"/>
          <p:cNvSpPr/>
          <p:nvPr/>
        </p:nvSpPr>
        <p:spPr>
          <a:xfrm>
            <a:off x="857250" y="1709282"/>
            <a:ext cx="4243388" cy="592931"/>
          </a:xfrm>
          <a:prstGeom prst="rect">
            <a:avLst/>
          </a:prstGeom>
          <a:solidFill>
            <a:srgbClr val="3B82F6">
              <a:alpha val="10000"/>
            </a:srgbClr>
          </a:solidFill>
          <a:ln/>
        </p:spPr>
      </p:sp>
      <p:sp>
        <p:nvSpPr>
          <p:cNvPr id="8" name="Shape 5"/>
          <p:cNvSpPr/>
          <p:nvPr/>
        </p:nvSpPr>
        <p:spPr>
          <a:xfrm>
            <a:off x="857250" y="1709282"/>
            <a:ext cx="28575" cy="592931"/>
          </a:xfrm>
          <a:prstGeom prst="rect">
            <a:avLst/>
          </a:prstGeom>
          <a:solidFill>
            <a:srgbClr val="3B82F6"/>
          </a:solidFill>
          <a:ln/>
        </p:spPr>
      </p:sp>
      <p:sp>
        <p:nvSpPr>
          <p:cNvPr id="9" name="Text 6"/>
          <p:cNvSpPr/>
          <p:nvPr/>
        </p:nvSpPr>
        <p:spPr>
          <a:xfrm>
            <a:off x="985838" y="1809294"/>
            <a:ext cx="398621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Zayıf Kimlik Doğrulama</a:t>
            </a:r>
            <a:endParaRPr lang="en-US" sz="885" dirty="0"/>
          </a:p>
        </p:txBody>
      </p:sp>
      <p:sp>
        <p:nvSpPr>
          <p:cNvPr id="10" name="Text 7"/>
          <p:cNvSpPr/>
          <p:nvPr/>
        </p:nvSpPr>
        <p:spPr>
          <a:xfrm>
            <a:off x="985838" y="2041466"/>
            <a:ext cx="3986213"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5E7EB"/>
                </a:solidFill>
              </a:rPr>
              <a:t>Basit şifreler ve tek faktörlü doğrulama, saldırganlara kolay giriş sağlar.</a:t>
            </a:r>
            <a:endParaRPr lang="en-US" sz="780" dirty="0"/>
          </a:p>
        </p:txBody>
      </p:sp>
      <p:sp>
        <p:nvSpPr>
          <p:cNvPr id="11" name="Shape 8"/>
          <p:cNvSpPr/>
          <p:nvPr/>
        </p:nvSpPr>
        <p:spPr>
          <a:xfrm>
            <a:off x="857250" y="2402225"/>
            <a:ext cx="4243388" cy="592931"/>
          </a:xfrm>
          <a:prstGeom prst="rect">
            <a:avLst/>
          </a:prstGeom>
          <a:solidFill>
            <a:srgbClr val="3B82F6">
              <a:alpha val="10000"/>
            </a:srgbClr>
          </a:solidFill>
          <a:ln/>
        </p:spPr>
      </p:sp>
      <p:sp>
        <p:nvSpPr>
          <p:cNvPr id="12" name="Shape 9"/>
          <p:cNvSpPr/>
          <p:nvPr/>
        </p:nvSpPr>
        <p:spPr>
          <a:xfrm>
            <a:off x="857250" y="2402225"/>
            <a:ext cx="28575" cy="592931"/>
          </a:xfrm>
          <a:prstGeom prst="rect">
            <a:avLst/>
          </a:prstGeom>
          <a:solidFill>
            <a:srgbClr val="3B82F6"/>
          </a:solidFill>
          <a:ln/>
        </p:spPr>
      </p:sp>
      <p:sp>
        <p:nvSpPr>
          <p:cNvPr id="13" name="Text 10"/>
          <p:cNvSpPr/>
          <p:nvPr/>
        </p:nvSpPr>
        <p:spPr>
          <a:xfrm>
            <a:off x="985838" y="2502238"/>
            <a:ext cx="398621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Aşırı Yetkili Hesaplar</a:t>
            </a:r>
            <a:endParaRPr lang="en-US" sz="885" dirty="0"/>
          </a:p>
        </p:txBody>
      </p:sp>
      <p:sp>
        <p:nvSpPr>
          <p:cNvPr id="14" name="Text 11"/>
          <p:cNvSpPr/>
          <p:nvPr/>
        </p:nvSpPr>
        <p:spPr>
          <a:xfrm>
            <a:off x="985838" y="2734410"/>
            <a:ext cx="3986213"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5E7EB"/>
                </a:solidFill>
              </a:rPr>
              <a:t>Gereksiz ayrıcalıklar, ihlalde hızlı yayılmaya kapı açar.</a:t>
            </a:r>
            <a:endParaRPr lang="en-US" sz="780" dirty="0"/>
          </a:p>
        </p:txBody>
      </p:sp>
      <p:sp>
        <p:nvSpPr>
          <p:cNvPr id="15" name="Shape 12"/>
          <p:cNvSpPr/>
          <p:nvPr/>
        </p:nvSpPr>
        <p:spPr>
          <a:xfrm>
            <a:off x="857250" y="3095169"/>
            <a:ext cx="4243388" cy="592931"/>
          </a:xfrm>
          <a:prstGeom prst="rect">
            <a:avLst/>
          </a:prstGeom>
          <a:solidFill>
            <a:srgbClr val="3B82F6">
              <a:alpha val="10000"/>
            </a:srgbClr>
          </a:solidFill>
          <a:ln/>
        </p:spPr>
      </p:sp>
      <p:sp>
        <p:nvSpPr>
          <p:cNvPr id="16" name="Shape 13"/>
          <p:cNvSpPr/>
          <p:nvPr/>
        </p:nvSpPr>
        <p:spPr>
          <a:xfrm>
            <a:off x="857250" y="3095169"/>
            <a:ext cx="28575" cy="592931"/>
          </a:xfrm>
          <a:prstGeom prst="rect">
            <a:avLst/>
          </a:prstGeom>
          <a:solidFill>
            <a:srgbClr val="3B82F6"/>
          </a:solidFill>
          <a:ln/>
        </p:spPr>
      </p:sp>
      <p:sp>
        <p:nvSpPr>
          <p:cNvPr id="17" name="Text 14"/>
          <p:cNvSpPr/>
          <p:nvPr/>
        </p:nvSpPr>
        <p:spPr>
          <a:xfrm>
            <a:off x="985838" y="3195182"/>
            <a:ext cx="398621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Federasyon Hataları</a:t>
            </a:r>
            <a:endParaRPr lang="en-US" sz="885" dirty="0"/>
          </a:p>
        </p:txBody>
      </p:sp>
      <p:sp>
        <p:nvSpPr>
          <p:cNvPr id="18" name="Text 15"/>
          <p:cNvSpPr/>
          <p:nvPr/>
        </p:nvSpPr>
        <p:spPr>
          <a:xfrm>
            <a:off x="985838" y="3427354"/>
            <a:ext cx="3986213"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5E7EB"/>
                </a:solidFill>
              </a:rPr>
              <a:t>Hatalı federasyon ayarları, beklenmeyen açıklar oluşturur.</a:t>
            </a:r>
            <a:endParaRPr lang="en-US" sz="780" dirty="0"/>
          </a:p>
        </p:txBody>
      </p:sp>
      <p:sp>
        <p:nvSpPr>
          <p:cNvPr id="19" name="Shape 16"/>
          <p:cNvSpPr/>
          <p:nvPr/>
        </p:nvSpPr>
        <p:spPr>
          <a:xfrm>
            <a:off x="857250" y="3902413"/>
            <a:ext cx="4243388" cy="880467"/>
          </a:xfrm>
          <a:prstGeom prst="rect">
            <a:avLst/>
          </a:prstGeom>
          <a:solidFill>
            <a:srgbClr val="3B82F6">
              <a:alpha val="15000"/>
            </a:srgbClr>
          </a:solidFill>
          <a:ln w="18288">
            <a:solidFill>
              <a:srgbClr val="EF4444"/>
            </a:solidFill>
            <a:prstDash val="solid"/>
          </a:ln>
        </p:spPr>
      </p:sp>
      <p:sp>
        <p:nvSpPr>
          <p:cNvPr id="20" name="Text 17"/>
          <p:cNvSpPr/>
          <p:nvPr/>
        </p:nvSpPr>
        <p:spPr>
          <a:xfrm>
            <a:off x="971550" y="4031000"/>
            <a:ext cx="401478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F4444"/>
                </a:solidFill>
              </a:rPr>
              <a:t>Çözüm: Zero Trust Mimarisi</a:t>
            </a:r>
            <a:endParaRPr lang="en-US" sz="987" dirty="0"/>
          </a:p>
        </p:txBody>
      </p:sp>
      <p:sp>
        <p:nvSpPr>
          <p:cNvPr id="21" name="Text 18"/>
          <p:cNvSpPr/>
          <p:nvPr/>
        </p:nvSpPr>
        <p:spPr>
          <a:xfrm>
            <a:off x="971550" y="4311393"/>
            <a:ext cx="4014788"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5E7EB"/>
                </a:solidFill>
              </a:rPr>
              <a:t>Her erişimi güvensiz varsayarak sürekli doğrulama ve yetkilendirme yapan Zero Trust yaklaşımı, bulutta temel bir savunma katmanıdır.</a:t>
            </a:r>
            <a:endParaRPr lang="en-US" sz="780" dirty="0"/>
          </a:p>
        </p:txBody>
      </p:sp>
      <p:pic>
        <p:nvPicPr>
          <p:cNvPr id="22" name="Image 1" descr="preencoded.png">    </p:cNvPr>
          <p:cNvPicPr>
            <a:picLocks noChangeAspect="1"/>
          </p:cNvPicPr>
          <p:nvPr/>
        </p:nvPicPr>
        <p:blipFill>
          <a:blip r:embed="rId2"/>
          <a:stretch>
            <a:fillRect/>
          </a:stretch>
        </p:blipFill>
        <p:spPr>
          <a:xfrm>
            <a:off x="5457825" y="1398724"/>
            <a:ext cx="2828925" cy="3214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42437"/>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Yanlış Yapılandırmalar Veri İhlallerinin %80'inden Sorumlu</a:t>
            </a:r>
            <a:endParaRPr lang="en-US" sz="1602" dirty="0"/>
          </a:p>
        </p:txBody>
      </p:sp>
      <p:sp>
        <p:nvSpPr>
          <p:cNvPr id="6" name="Shape 3"/>
          <p:cNvSpPr/>
          <p:nvPr/>
        </p:nvSpPr>
        <p:spPr>
          <a:xfrm>
            <a:off x="857250" y="1714695"/>
            <a:ext cx="3150394" cy="1843088"/>
          </a:xfrm>
          <a:prstGeom prst="rect">
            <a:avLst/>
          </a:prstGeom>
          <a:solidFill>
            <a:srgbClr val="EF4444">
              <a:alpha val="5000"/>
            </a:srgbClr>
          </a:solidFill>
          <a:ln w="18288">
            <a:solidFill>
              <a:srgbClr val="EF4444"/>
            </a:solidFill>
            <a:prstDash val="solid"/>
          </a:ln>
        </p:spPr>
      </p:sp>
      <p:sp>
        <p:nvSpPr>
          <p:cNvPr id="7" name="Text 4"/>
          <p:cNvSpPr/>
          <p:nvPr/>
        </p:nvSpPr>
        <p:spPr>
          <a:xfrm>
            <a:off x="1143000" y="2021877"/>
            <a:ext cx="2578894" cy="685800"/>
          </a:xfrm>
          <a:prstGeom prst="rect">
            <a:avLst/>
          </a:prstGeom>
          <a:noFill/>
          <a:ln/>
        </p:spPr>
        <p:txBody>
          <a:bodyPr wrap="none" lIns="0" tIns="0" rIns="0" bIns="0" rtlCol="0" anchor="t">
            <a:spAutoFit/>
          </a:bodyPr>
          <a:lstStyle/>
          <a:p>
            <a:pPr algn="ctr" indent="0" marL="0">
              <a:lnSpc>
                <a:spcPts val="5400"/>
              </a:lnSpc>
              <a:buNone/>
            </a:pPr>
            <a:r>
              <a:rPr lang="en-US" sz="4974" b="1" dirty="0">
                <a:solidFill>
                  <a:srgbClr val="EF4444"/>
                </a:solidFill>
              </a:rPr>
              <a:t>80%</a:t>
            </a:r>
            <a:endParaRPr lang="en-US" sz="4974" dirty="0"/>
          </a:p>
        </p:txBody>
      </p:sp>
      <p:sp>
        <p:nvSpPr>
          <p:cNvPr id="8" name="Text 5"/>
          <p:cNvSpPr/>
          <p:nvPr/>
        </p:nvSpPr>
        <p:spPr>
          <a:xfrm>
            <a:off x="1143000" y="2850552"/>
            <a:ext cx="2578894" cy="400050"/>
          </a:xfrm>
          <a:prstGeom prst="rect">
            <a:avLst/>
          </a:prstGeom>
          <a:noFill/>
          <a:ln/>
        </p:spPr>
        <p:txBody>
          <a:bodyPr wrap="square" lIns="0" tIns="0" rIns="0" bIns="0" rtlCol="0" anchor="t">
            <a:spAutoFit/>
          </a:bodyPr>
          <a:lstStyle/>
          <a:p>
            <a:pPr algn="ctr" indent="0" marL="0">
              <a:lnSpc>
                <a:spcPts val="1600"/>
              </a:lnSpc>
              <a:buNone/>
            </a:pPr>
            <a:r>
              <a:rPr lang="en-US" sz="987" b="1" dirty="0">
                <a:solidFill>
                  <a:srgbClr val="E5E7EB"/>
                </a:solidFill>
              </a:rPr>
              <a:t>Veri İhlalleri Yanlış Yapılandırmalardan Kaynaklanıyor</a:t>
            </a:r>
            <a:endParaRPr lang="en-US" sz="987" dirty="0"/>
          </a:p>
        </p:txBody>
      </p:sp>
      <p:sp>
        <p:nvSpPr>
          <p:cNvPr id="9" name="Text 6"/>
          <p:cNvSpPr/>
          <p:nvPr/>
        </p:nvSpPr>
        <p:spPr>
          <a:xfrm>
            <a:off x="857250" y="3750664"/>
            <a:ext cx="3150394"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Bulut hizmet sağlayıcıları karmaşık yapılandırma seçenekleri sunmakta, ancak varsayılan ayarlar genellikle en güvenli değildir. Basit hatalar, milyonlarca kaydın sızdırılmasına neden olmaktadır.</a:t>
            </a:r>
            <a:endParaRPr lang="en-US" sz="834" dirty="0"/>
          </a:p>
        </p:txBody>
      </p:sp>
      <p:sp>
        <p:nvSpPr>
          <p:cNvPr id="10" name="Shape 7"/>
          <p:cNvSpPr/>
          <p:nvPr/>
        </p:nvSpPr>
        <p:spPr>
          <a:xfrm>
            <a:off x="4436269" y="875807"/>
            <a:ext cx="3850481" cy="825103"/>
          </a:xfrm>
          <a:prstGeom prst="rect">
            <a:avLst/>
          </a:prstGeom>
          <a:solidFill>
            <a:srgbClr val="3B82F6">
              <a:alpha val="10000"/>
            </a:srgbClr>
          </a:solidFill>
          <a:ln/>
        </p:spPr>
      </p:sp>
      <p:sp>
        <p:nvSpPr>
          <p:cNvPr id="11" name="Shape 8"/>
          <p:cNvSpPr/>
          <p:nvPr/>
        </p:nvSpPr>
        <p:spPr>
          <a:xfrm>
            <a:off x="4436269" y="875807"/>
            <a:ext cx="28575" cy="825103"/>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4579144" y="1006180"/>
            <a:ext cx="192881" cy="171450"/>
          </a:xfrm>
          <a:prstGeom prst="rect">
            <a:avLst/>
          </a:prstGeom>
        </p:spPr>
      </p:pic>
      <p:sp>
        <p:nvSpPr>
          <p:cNvPr id="13" name="Text 9"/>
          <p:cNvSpPr/>
          <p:nvPr/>
        </p:nvSpPr>
        <p:spPr>
          <a:xfrm>
            <a:off x="4857750" y="1004395"/>
            <a:ext cx="205999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Herkese Açık Depolama Alanları</a:t>
            </a:r>
            <a:endParaRPr lang="en-US" sz="885" dirty="0"/>
          </a:p>
        </p:txBody>
      </p:sp>
      <p:sp>
        <p:nvSpPr>
          <p:cNvPr id="14" name="Text 10"/>
          <p:cNvSpPr/>
          <p:nvPr/>
        </p:nvSpPr>
        <p:spPr>
          <a:xfrm>
            <a:off x="4579144" y="1250854"/>
            <a:ext cx="3564731"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S3 buckets ve blob storage'ların herkese açık olarak yapılandırılması en yaygın hatadır.</a:t>
            </a:r>
            <a:endParaRPr lang="en-US" sz="780" dirty="0"/>
          </a:p>
        </p:txBody>
      </p:sp>
      <p:sp>
        <p:nvSpPr>
          <p:cNvPr id="15" name="Shape 11"/>
          <p:cNvSpPr/>
          <p:nvPr/>
        </p:nvSpPr>
        <p:spPr>
          <a:xfrm>
            <a:off x="4436269" y="1815210"/>
            <a:ext cx="3850481" cy="825103"/>
          </a:xfrm>
          <a:prstGeom prst="rect">
            <a:avLst/>
          </a:prstGeom>
          <a:solidFill>
            <a:srgbClr val="3B82F6">
              <a:alpha val="10000"/>
            </a:srgbClr>
          </a:solidFill>
          <a:ln/>
        </p:spPr>
      </p:sp>
      <p:sp>
        <p:nvSpPr>
          <p:cNvPr id="16" name="Shape 12"/>
          <p:cNvSpPr/>
          <p:nvPr/>
        </p:nvSpPr>
        <p:spPr>
          <a:xfrm>
            <a:off x="4436269" y="1815210"/>
            <a:ext cx="28575" cy="825103"/>
          </a:xfrm>
          <a:prstGeom prst="rect">
            <a:avLst/>
          </a:prstGeom>
          <a:solidFill>
            <a:srgbClr val="3B82F6"/>
          </a:solidFill>
          <a:ln/>
        </p:spPr>
      </p:sp>
      <p:pic>
        <p:nvPicPr>
          <p:cNvPr id="17" name="Image 2" descr="preencoded.png">    </p:cNvPr>
          <p:cNvPicPr>
            <a:picLocks noChangeAspect="1"/>
          </p:cNvPicPr>
          <p:nvPr/>
        </p:nvPicPr>
        <p:blipFill>
          <a:blip r:embed="rId3"/>
          <a:stretch>
            <a:fillRect/>
          </a:stretch>
        </p:blipFill>
        <p:spPr>
          <a:xfrm>
            <a:off x="4579144" y="1945584"/>
            <a:ext cx="150019" cy="171450"/>
          </a:xfrm>
          <a:prstGeom prst="rect">
            <a:avLst/>
          </a:prstGeom>
        </p:spPr>
      </p:pic>
      <p:sp>
        <p:nvSpPr>
          <p:cNvPr id="18" name="Text 13"/>
          <p:cNvSpPr/>
          <p:nvPr/>
        </p:nvSpPr>
        <p:spPr>
          <a:xfrm>
            <a:off x="4814888" y="1943798"/>
            <a:ext cx="180371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İnternete Açık Veritabanları</a:t>
            </a:r>
            <a:endParaRPr lang="en-US" sz="885" dirty="0"/>
          </a:p>
        </p:txBody>
      </p:sp>
      <p:sp>
        <p:nvSpPr>
          <p:cNvPr id="19" name="Text 14"/>
          <p:cNvSpPr/>
          <p:nvPr/>
        </p:nvSpPr>
        <p:spPr>
          <a:xfrm>
            <a:off x="4579144" y="2190257"/>
            <a:ext cx="3564731"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Veritabanlarının güvenlik duvarı olmadan internete açık kalması kritik risk oluşturur.</a:t>
            </a:r>
            <a:endParaRPr lang="en-US" sz="780" dirty="0"/>
          </a:p>
        </p:txBody>
      </p:sp>
      <p:sp>
        <p:nvSpPr>
          <p:cNvPr id="20" name="Shape 15"/>
          <p:cNvSpPr/>
          <p:nvPr/>
        </p:nvSpPr>
        <p:spPr>
          <a:xfrm>
            <a:off x="4436269" y="2754613"/>
            <a:ext cx="3850481" cy="664369"/>
          </a:xfrm>
          <a:prstGeom prst="rect">
            <a:avLst/>
          </a:prstGeom>
          <a:solidFill>
            <a:srgbClr val="3B82F6">
              <a:alpha val="10000"/>
            </a:srgbClr>
          </a:solidFill>
          <a:ln/>
        </p:spPr>
      </p:sp>
      <p:sp>
        <p:nvSpPr>
          <p:cNvPr id="21" name="Shape 16"/>
          <p:cNvSpPr/>
          <p:nvPr/>
        </p:nvSpPr>
        <p:spPr>
          <a:xfrm>
            <a:off x="4436269" y="2754613"/>
            <a:ext cx="28575" cy="664369"/>
          </a:xfrm>
          <a:prstGeom prst="rect">
            <a:avLst/>
          </a:prstGeom>
          <a:solidFill>
            <a:srgbClr val="3B82F6"/>
          </a:solidFill>
          <a:ln/>
        </p:spPr>
      </p:sp>
      <p:pic>
        <p:nvPicPr>
          <p:cNvPr id="22" name="Image 3" descr="preencoded.png">    </p:cNvPr>
          <p:cNvPicPr>
            <a:picLocks noChangeAspect="1"/>
          </p:cNvPicPr>
          <p:nvPr/>
        </p:nvPicPr>
        <p:blipFill>
          <a:blip r:embed="rId4"/>
          <a:stretch>
            <a:fillRect/>
          </a:stretch>
        </p:blipFill>
        <p:spPr>
          <a:xfrm>
            <a:off x="4579144" y="2884987"/>
            <a:ext cx="171450" cy="171450"/>
          </a:xfrm>
          <a:prstGeom prst="rect">
            <a:avLst/>
          </a:prstGeom>
        </p:spPr>
      </p:pic>
      <p:sp>
        <p:nvSpPr>
          <p:cNvPr id="23" name="Text 17"/>
          <p:cNvSpPr/>
          <p:nvPr/>
        </p:nvSpPr>
        <p:spPr>
          <a:xfrm>
            <a:off x="4836319" y="2883201"/>
            <a:ext cx="188754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Hatalı Erişim Kontrol Listeleri</a:t>
            </a:r>
            <a:endParaRPr lang="en-US" sz="885" dirty="0"/>
          </a:p>
        </p:txBody>
      </p:sp>
      <p:sp>
        <p:nvSpPr>
          <p:cNvPr id="24" name="Text 18"/>
          <p:cNvSpPr/>
          <p:nvPr/>
        </p:nvSpPr>
        <p:spPr>
          <a:xfrm>
            <a:off x="4579144" y="3129660"/>
            <a:ext cx="3564731" cy="160734"/>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5E7EB"/>
                </a:solidFill>
              </a:rPr>
              <a:t>ACL'lerin yanlış ayarlanması yetkisiz erişime kapı açar.</a:t>
            </a:r>
            <a:endParaRPr lang="en-US" sz="780" dirty="0"/>
          </a:p>
        </p:txBody>
      </p:sp>
      <p:sp>
        <p:nvSpPr>
          <p:cNvPr id="25" name="Shape 19"/>
          <p:cNvSpPr/>
          <p:nvPr/>
        </p:nvSpPr>
        <p:spPr>
          <a:xfrm>
            <a:off x="4436269" y="3533282"/>
            <a:ext cx="3850481" cy="825103"/>
          </a:xfrm>
          <a:prstGeom prst="rect">
            <a:avLst/>
          </a:prstGeom>
          <a:solidFill>
            <a:srgbClr val="3B82F6">
              <a:alpha val="10000"/>
            </a:srgbClr>
          </a:solidFill>
          <a:ln/>
        </p:spPr>
      </p:sp>
      <p:sp>
        <p:nvSpPr>
          <p:cNvPr id="26" name="Shape 20"/>
          <p:cNvSpPr/>
          <p:nvPr/>
        </p:nvSpPr>
        <p:spPr>
          <a:xfrm>
            <a:off x="4436269" y="3533282"/>
            <a:ext cx="28575" cy="825103"/>
          </a:xfrm>
          <a:prstGeom prst="rect">
            <a:avLst/>
          </a:prstGeom>
          <a:solidFill>
            <a:srgbClr val="3B82F6"/>
          </a:solidFill>
          <a:ln/>
        </p:spPr>
      </p:sp>
      <p:pic>
        <p:nvPicPr>
          <p:cNvPr id="27" name="Image 4" descr="preencoded.png">    </p:cNvPr>
          <p:cNvPicPr>
            <a:picLocks noChangeAspect="1"/>
          </p:cNvPicPr>
          <p:nvPr/>
        </p:nvPicPr>
        <p:blipFill>
          <a:blip r:embed="rId5"/>
          <a:stretch>
            <a:fillRect/>
          </a:stretch>
        </p:blipFill>
        <p:spPr>
          <a:xfrm>
            <a:off x="4579144" y="3663655"/>
            <a:ext cx="171450" cy="171450"/>
          </a:xfrm>
          <a:prstGeom prst="rect">
            <a:avLst/>
          </a:prstGeom>
        </p:spPr>
      </p:pic>
      <p:sp>
        <p:nvSpPr>
          <p:cNvPr id="28" name="Text 21"/>
          <p:cNvSpPr/>
          <p:nvPr/>
        </p:nvSpPr>
        <p:spPr>
          <a:xfrm>
            <a:off x="4836319" y="3661870"/>
            <a:ext cx="1348132"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Şifreleme Eksiklikleri</a:t>
            </a:r>
            <a:endParaRPr lang="en-US" sz="885" dirty="0"/>
          </a:p>
        </p:txBody>
      </p:sp>
      <p:sp>
        <p:nvSpPr>
          <p:cNvPr id="29" name="Text 22"/>
          <p:cNvSpPr/>
          <p:nvPr/>
        </p:nvSpPr>
        <p:spPr>
          <a:xfrm>
            <a:off x="4579144" y="3908329"/>
            <a:ext cx="3564731"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Veri şifreleme ayarlarının atlanması veya zayıf algoritmalar kullanılması.</a:t>
            </a:r>
            <a:endParaRPr lang="en-US" sz="780" dirty="0"/>
          </a:p>
        </p:txBody>
      </p:sp>
      <p:sp>
        <p:nvSpPr>
          <p:cNvPr id="30" name="Shape 23"/>
          <p:cNvSpPr/>
          <p:nvPr/>
        </p:nvSpPr>
        <p:spPr>
          <a:xfrm>
            <a:off x="4436269" y="4501260"/>
            <a:ext cx="3850481" cy="841177"/>
          </a:xfrm>
          <a:prstGeom prst="rect">
            <a:avLst/>
          </a:prstGeom>
          <a:solidFill>
            <a:srgbClr val="EF4444">
              <a:alpha val="10000"/>
            </a:srgbClr>
          </a:solidFill>
          <a:ln w="18288">
            <a:solidFill>
              <a:srgbClr val="EF4444"/>
            </a:solidFill>
            <a:prstDash val="solid"/>
          </a:ln>
        </p:spPr>
      </p:sp>
      <p:sp>
        <p:nvSpPr>
          <p:cNvPr id="31" name="Text 24"/>
          <p:cNvSpPr/>
          <p:nvPr/>
        </p:nvSpPr>
        <p:spPr>
          <a:xfrm>
            <a:off x="4579144" y="4644135"/>
            <a:ext cx="356473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F4444"/>
                </a:solidFill>
              </a:rPr>
              <a:t>Uyumsuzluk Riski</a:t>
            </a:r>
            <a:endParaRPr lang="en-US" sz="784" dirty="0"/>
          </a:p>
        </p:txBody>
      </p:sp>
      <p:sp>
        <p:nvSpPr>
          <p:cNvPr id="32" name="Text 25"/>
          <p:cNvSpPr/>
          <p:nvPr/>
        </p:nvSpPr>
        <p:spPr>
          <a:xfrm>
            <a:off x="4579144" y="4870949"/>
            <a:ext cx="3564731"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GDPR, HIPAA, PCI-DSS gibi düzenlemelere uygun olmayan yapılandırmalar hem güvenlik hem de yasal riskleri artırır.</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AI Destekli Saldırılar %300 Artış Gösterecek</a:t>
            </a:r>
            <a:endParaRPr lang="en-US" sz="1602" dirty="0"/>
          </a:p>
        </p:txBody>
      </p:sp>
      <p:sp>
        <p:nvSpPr>
          <p:cNvPr id="6" name="Text 3"/>
          <p:cNvSpPr/>
          <p:nvPr/>
        </p:nvSpPr>
        <p:spPr>
          <a:xfrm>
            <a:off x="857250" y="1320533"/>
            <a:ext cx="4597003"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Yapay zeka, sadece savunma tarafında değil, saldırı tarafında da devrim yaratmaktadır. Saldırganlar, AI'yı kimlik avı kampanyalarını kişiselleştirmek, deepfake teknolojisi ile sosyal mühendislik saldırıları düzenlemek ve otomatik saldırı kampanyalarını ölçeklendirmek için kullanmaktadırlar.</a:t>
            </a:r>
            <a:endParaRPr lang="en-US" sz="834" dirty="0"/>
          </a:p>
        </p:txBody>
      </p:sp>
      <p:sp>
        <p:nvSpPr>
          <p:cNvPr id="7" name="Shape 4"/>
          <p:cNvSpPr/>
          <p:nvPr/>
        </p:nvSpPr>
        <p:spPr>
          <a:xfrm>
            <a:off x="857250" y="2230580"/>
            <a:ext cx="4597003" cy="767953"/>
          </a:xfrm>
          <a:prstGeom prst="rect">
            <a:avLst/>
          </a:prstGeom>
          <a:solidFill>
            <a:srgbClr val="EF4444">
              <a:alpha val="10000"/>
            </a:srgbClr>
          </a:solidFill>
          <a:ln/>
        </p:spPr>
      </p:sp>
      <p:sp>
        <p:nvSpPr>
          <p:cNvPr id="8" name="Shape 5"/>
          <p:cNvSpPr/>
          <p:nvPr/>
        </p:nvSpPr>
        <p:spPr>
          <a:xfrm>
            <a:off x="857250" y="2230580"/>
            <a:ext cx="28575" cy="767953"/>
          </a:xfrm>
          <a:prstGeom prst="rect">
            <a:avLst/>
          </a:prstGeom>
          <a:solidFill>
            <a:srgbClr val="EF4444"/>
          </a:solidFill>
          <a:ln/>
        </p:spPr>
      </p:sp>
      <p:sp>
        <p:nvSpPr>
          <p:cNvPr id="9" name="Shape 6"/>
          <p:cNvSpPr/>
          <p:nvPr/>
        </p:nvSpPr>
        <p:spPr>
          <a:xfrm>
            <a:off x="1000125" y="2435963"/>
            <a:ext cx="357188" cy="357188"/>
          </a:xfrm>
          <a:prstGeom prst="rect">
            <a:avLst/>
          </a:prstGeom>
          <a:solidFill>
            <a:srgbClr val="EF4444">
              <a:alpha val="20000"/>
            </a:srgbClr>
          </a:solidFill>
          <a:ln/>
        </p:spPr>
      </p:sp>
      <p:pic>
        <p:nvPicPr>
          <p:cNvPr id="10" name="Image 1" descr="preencoded.png">    </p:cNvPr>
          <p:cNvPicPr>
            <a:picLocks noChangeAspect="1"/>
          </p:cNvPicPr>
          <p:nvPr/>
        </p:nvPicPr>
        <p:blipFill>
          <a:blip r:embed="rId2"/>
          <a:stretch>
            <a:fillRect/>
          </a:stretch>
        </p:blipFill>
        <p:spPr>
          <a:xfrm>
            <a:off x="1092994" y="2528832"/>
            <a:ext cx="171450" cy="171450"/>
          </a:xfrm>
          <a:prstGeom prst="rect">
            <a:avLst/>
          </a:prstGeom>
        </p:spPr>
      </p:pic>
      <p:sp>
        <p:nvSpPr>
          <p:cNvPr id="11" name="Text 7"/>
          <p:cNvSpPr/>
          <p:nvPr/>
        </p:nvSpPr>
        <p:spPr>
          <a:xfrm>
            <a:off x="1464469" y="2344880"/>
            <a:ext cx="384690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F4444"/>
                </a:solidFill>
              </a:rPr>
              <a:t>AI Destekli Kimlik Avı</a:t>
            </a:r>
            <a:endParaRPr lang="en-US" sz="885" dirty="0"/>
          </a:p>
        </p:txBody>
      </p:sp>
      <p:sp>
        <p:nvSpPr>
          <p:cNvPr id="12" name="Text 8"/>
          <p:cNvSpPr/>
          <p:nvPr/>
        </p:nvSpPr>
        <p:spPr>
          <a:xfrm>
            <a:off x="1464469" y="2562765"/>
            <a:ext cx="384690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Makine öğrenmesi ile kişiselleştirilmiş, kurumsal filtreleri geçebilen sofistike e-postalar.</a:t>
            </a:r>
            <a:endParaRPr lang="en-US" sz="780" dirty="0"/>
          </a:p>
        </p:txBody>
      </p:sp>
      <p:sp>
        <p:nvSpPr>
          <p:cNvPr id="13" name="Shape 9"/>
          <p:cNvSpPr/>
          <p:nvPr/>
        </p:nvSpPr>
        <p:spPr>
          <a:xfrm>
            <a:off x="857250" y="3112833"/>
            <a:ext cx="4597003" cy="767953"/>
          </a:xfrm>
          <a:prstGeom prst="rect">
            <a:avLst/>
          </a:prstGeom>
          <a:solidFill>
            <a:srgbClr val="EF4444">
              <a:alpha val="10000"/>
            </a:srgbClr>
          </a:solidFill>
          <a:ln/>
        </p:spPr>
      </p:sp>
      <p:sp>
        <p:nvSpPr>
          <p:cNvPr id="14" name="Shape 10"/>
          <p:cNvSpPr/>
          <p:nvPr/>
        </p:nvSpPr>
        <p:spPr>
          <a:xfrm>
            <a:off x="857250" y="3112833"/>
            <a:ext cx="28575" cy="767953"/>
          </a:xfrm>
          <a:prstGeom prst="rect">
            <a:avLst/>
          </a:prstGeom>
          <a:solidFill>
            <a:srgbClr val="EF4444"/>
          </a:solidFill>
          <a:ln/>
        </p:spPr>
      </p:sp>
      <p:sp>
        <p:nvSpPr>
          <p:cNvPr id="15" name="Shape 11"/>
          <p:cNvSpPr/>
          <p:nvPr/>
        </p:nvSpPr>
        <p:spPr>
          <a:xfrm>
            <a:off x="1000125" y="3318216"/>
            <a:ext cx="357188" cy="357188"/>
          </a:xfrm>
          <a:prstGeom prst="rect">
            <a:avLst/>
          </a:prstGeom>
          <a:solidFill>
            <a:srgbClr val="EF4444">
              <a:alpha val="20000"/>
            </a:srgbClr>
          </a:solidFill>
          <a:ln/>
        </p:spPr>
      </p:sp>
      <p:pic>
        <p:nvPicPr>
          <p:cNvPr id="16" name="Image 2" descr="preencoded.png">    </p:cNvPr>
          <p:cNvPicPr>
            <a:picLocks noChangeAspect="1"/>
          </p:cNvPicPr>
          <p:nvPr/>
        </p:nvPicPr>
        <p:blipFill>
          <a:blip r:embed="rId3"/>
          <a:stretch>
            <a:fillRect/>
          </a:stretch>
        </p:blipFill>
        <p:spPr>
          <a:xfrm>
            <a:off x="1082278" y="3411085"/>
            <a:ext cx="192881" cy="171450"/>
          </a:xfrm>
          <a:prstGeom prst="rect">
            <a:avLst/>
          </a:prstGeom>
        </p:spPr>
      </p:pic>
      <p:sp>
        <p:nvSpPr>
          <p:cNvPr id="17" name="Text 12"/>
          <p:cNvSpPr/>
          <p:nvPr/>
        </p:nvSpPr>
        <p:spPr>
          <a:xfrm>
            <a:off x="1464469" y="3227133"/>
            <a:ext cx="384690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F4444"/>
                </a:solidFill>
              </a:rPr>
              <a:t>Deepfake Saldırıları</a:t>
            </a:r>
            <a:endParaRPr lang="en-US" sz="885" dirty="0"/>
          </a:p>
        </p:txBody>
      </p:sp>
      <p:sp>
        <p:nvSpPr>
          <p:cNvPr id="18" name="Text 13"/>
          <p:cNvSpPr/>
          <p:nvPr/>
        </p:nvSpPr>
        <p:spPr>
          <a:xfrm>
            <a:off x="1464469" y="3445018"/>
            <a:ext cx="384690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Yöneticilerin sesini ve görüntüsünü taklit ederek finansal transferler için yetkilendirme almak.</a:t>
            </a:r>
            <a:endParaRPr lang="en-US" sz="780" dirty="0"/>
          </a:p>
        </p:txBody>
      </p:sp>
      <p:sp>
        <p:nvSpPr>
          <p:cNvPr id="19" name="Shape 14"/>
          <p:cNvSpPr/>
          <p:nvPr/>
        </p:nvSpPr>
        <p:spPr>
          <a:xfrm>
            <a:off x="857250" y="3995086"/>
            <a:ext cx="4597003" cy="767953"/>
          </a:xfrm>
          <a:prstGeom prst="rect">
            <a:avLst/>
          </a:prstGeom>
          <a:solidFill>
            <a:srgbClr val="EF4444">
              <a:alpha val="10000"/>
            </a:srgbClr>
          </a:solidFill>
          <a:ln/>
        </p:spPr>
      </p:sp>
      <p:sp>
        <p:nvSpPr>
          <p:cNvPr id="20" name="Shape 15"/>
          <p:cNvSpPr/>
          <p:nvPr/>
        </p:nvSpPr>
        <p:spPr>
          <a:xfrm>
            <a:off x="857250" y="3995086"/>
            <a:ext cx="28575" cy="767953"/>
          </a:xfrm>
          <a:prstGeom prst="rect">
            <a:avLst/>
          </a:prstGeom>
          <a:solidFill>
            <a:srgbClr val="EF4444"/>
          </a:solidFill>
          <a:ln/>
        </p:spPr>
      </p:sp>
      <p:sp>
        <p:nvSpPr>
          <p:cNvPr id="21" name="Shape 16"/>
          <p:cNvSpPr/>
          <p:nvPr/>
        </p:nvSpPr>
        <p:spPr>
          <a:xfrm>
            <a:off x="1000125" y="4200469"/>
            <a:ext cx="357188" cy="357188"/>
          </a:xfrm>
          <a:prstGeom prst="rect">
            <a:avLst/>
          </a:prstGeom>
          <a:solidFill>
            <a:srgbClr val="EF4444">
              <a:alpha val="20000"/>
            </a:srgbClr>
          </a:solidFill>
          <a:ln/>
        </p:spPr>
      </p:sp>
      <p:pic>
        <p:nvPicPr>
          <p:cNvPr id="22" name="Image 3" descr="preencoded.png">    </p:cNvPr>
          <p:cNvPicPr>
            <a:picLocks noChangeAspect="1"/>
          </p:cNvPicPr>
          <p:nvPr/>
        </p:nvPicPr>
        <p:blipFill>
          <a:blip r:embed="rId4"/>
          <a:stretch>
            <a:fillRect/>
          </a:stretch>
        </p:blipFill>
        <p:spPr>
          <a:xfrm>
            <a:off x="1071563" y="4293338"/>
            <a:ext cx="214313" cy="171450"/>
          </a:xfrm>
          <a:prstGeom prst="rect">
            <a:avLst/>
          </a:prstGeom>
        </p:spPr>
      </p:pic>
      <p:sp>
        <p:nvSpPr>
          <p:cNvPr id="23" name="Text 17"/>
          <p:cNvSpPr/>
          <p:nvPr/>
        </p:nvSpPr>
        <p:spPr>
          <a:xfrm>
            <a:off x="1464469" y="4109386"/>
            <a:ext cx="384690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F4444"/>
                </a:solidFill>
              </a:rPr>
              <a:t>Otomatik Saldırı Kampanyaları</a:t>
            </a:r>
            <a:endParaRPr lang="en-US" sz="885" dirty="0"/>
          </a:p>
        </p:txBody>
      </p:sp>
      <p:sp>
        <p:nvSpPr>
          <p:cNvPr id="24" name="Text 18"/>
          <p:cNvSpPr/>
          <p:nvPr/>
        </p:nvSpPr>
        <p:spPr>
          <a:xfrm>
            <a:off x="1464469" y="4327271"/>
            <a:ext cx="384690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AI ile savunma mekanizmalarını analiz edip atlatabilen, ölçeklenebilir saldırı sistemleri.</a:t>
            </a:r>
            <a:endParaRPr lang="en-US" sz="780" dirty="0"/>
          </a:p>
        </p:txBody>
      </p:sp>
      <p:sp>
        <p:nvSpPr>
          <p:cNvPr id="25" name="Shape 19"/>
          <p:cNvSpPr/>
          <p:nvPr/>
        </p:nvSpPr>
        <p:spPr>
          <a:xfrm>
            <a:off x="5811441" y="1416583"/>
            <a:ext cx="2475309" cy="2857500"/>
          </a:xfrm>
          <a:prstGeom prst="rect">
            <a:avLst/>
          </a:prstGeom>
          <a:solidFill>
            <a:srgbClr val="3B82F6">
              <a:alpha val="20000"/>
            </a:srgbClr>
          </a:solidFill>
          <a:ln w="18288">
            <a:solidFill>
              <a:srgbClr val="EF4444"/>
            </a:solidFill>
            <a:prstDash val="solid"/>
          </a:ln>
        </p:spPr>
      </p:sp>
      <p:pic>
        <p:nvPicPr>
          <p:cNvPr id="26" name="Image 4" descr="preencoded.png">    </p:cNvPr>
          <p:cNvPicPr>
            <a:picLocks noChangeAspect="1"/>
          </p:cNvPicPr>
          <p:nvPr/>
        </p:nvPicPr>
        <p:blipFill>
          <a:blip r:embed="rId5"/>
          <a:stretch>
            <a:fillRect/>
          </a:stretch>
        </p:blipFill>
        <p:spPr>
          <a:xfrm>
            <a:off x="6763345" y="1850566"/>
            <a:ext cx="571500" cy="571500"/>
          </a:xfrm>
          <a:prstGeom prst="rect">
            <a:avLst/>
          </a:prstGeom>
        </p:spPr>
      </p:pic>
      <p:sp>
        <p:nvSpPr>
          <p:cNvPr id="27" name="Text 20"/>
          <p:cNvSpPr/>
          <p:nvPr/>
        </p:nvSpPr>
        <p:spPr>
          <a:xfrm>
            <a:off x="6121189" y="2732819"/>
            <a:ext cx="1855784" cy="685800"/>
          </a:xfrm>
          <a:prstGeom prst="rect">
            <a:avLst/>
          </a:prstGeom>
          <a:noFill/>
          <a:ln/>
        </p:spPr>
        <p:txBody>
          <a:bodyPr wrap="none" lIns="0" tIns="0" rIns="0" bIns="0" rtlCol="0" anchor="t">
            <a:spAutoFit/>
          </a:bodyPr>
          <a:lstStyle/>
          <a:p>
            <a:pPr algn="l" indent="0" marL="0">
              <a:lnSpc>
                <a:spcPts val="5400"/>
              </a:lnSpc>
              <a:buNone/>
            </a:pPr>
            <a:r>
              <a:rPr lang="en-US" sz="4974" b="1" dirty="0">
                <a:solidFill>
                  <a:srgbClr val="EF4444"/>
                </a:solidFill>
              </a:rPr>
              <a:t>300%</a:t>
            </a:r>
            <a:endParaRPr lang="en-US" sz="4974" dirty="0"/>
          </a:p>
        </p:txBody>
      </p:sp>
      <p:sp>
        <p:nvSpPr>
          <p:cNvPr id="28" name="Text 21"/>
          <p:cNvSpPr/>
          <p:nvPr/>
        </p:nvSpPr>
        <p:spPr>
          <a:xfrm>
            <a:off x="6212914" y="3561494"/>
            <a:ext cx="1672363" cy="389334"/>
          </a:xfrm>
          <a:prstGeom prst="rect">
            <a:avLst/>
          </a:prstGeom>
          <a:noFill/>
          <a:ln/>
        </p:spPr>
        <p:txBody>
          <a:bodyPr wrap="square" lIns="170053" tIns="0" rIns="170053" bIns="0" rtlCol="0" anchor="t">
            <a:spAutoFit/>
          </a:bodyPr>
          <a:lstStyle/>
          <a:p>
            <a:pPr algn="ctr" indent="0" marL="0">
              <a:lnSpc>
                <a:spcPts val="1400"/>
              </a:lnSpc>
              <a:buNone/>
            </a:pPr>
            <a:r>
              <a:rPr lang="en-US" sz="987" b="1" dirty="0">
                <a:solidFill>
                  <a:srgbClr val="E5E7EB"/>
                </a:solidFill>
              </a:rPr>
              <a:t>Tahmini Artış Oranı</a:t>
            </a:r>
            <a:pPr algn="ctr" indent="0" marL="0">
              <a:lnSpc>
                <a:spcPts val="1400"/>
              </a:lnSpc>
              <a:buNone/>
            </a:pPr>
            <a:r>
              <a:rPr lang="en-US" sz="987" b="1" dirty="0">
                <a:solidFill>
                  <a:srgbClr val="E5E7EB"/>
                </a:solidFill>
              </a:rPr>
              <a:t>
</a:t>
            </a:r>
            <a:pPr algn="ctr" indent="0" marL="0">
              <a:lnSpc>
                <a:spcPts val="1400"/>
              </a:lnSpc>
              <a:buNone/>
            </a:pPr>
            <a:r>
              <a:rPr lang="en-US" sz="987" b="1" dirty="0">
                <a:solidFill>
                  <a:srgbClr val="E5E7EB"/>
                </a:solidFill>
              </a:rPr>
              <a:t>2025 Yılında</a:t>
            </a:r>
            <a:endParaRPr lang="en-US" sz="987" dirty="0"/>
          </a:p>
        </p:txBody>
      </p:sp>
      <p:sp>
        <p:nvSpPr>
          <p:cNvPr id="29" name="Shape 22"/>
          <p:cNvSpPr/>
          <p:nvPr/>
        </p:nvSpPr>
        <p:spPr>
          <a:xfrm>
            <a:off x="6409311" y="4416958"/>
            <a:ext cx="1279541" cy="250031"/>
          </a:xfrm>
          <a:prstGeom prst="rect">
            <a:avLst/>
          </a:prstGeom>
          <a:solidFill>
            <a:srgbClr val="3B82F6">
              <a:alpha val="20000"/>
            </a:srgbClr>
          </a:solidFill>
          <a:ln/>
        </p:spPr>
      </p:sp>
      <p:sp>
        <p:nvSpPr>
          <p:cNvPr id="30" name="Text 23"/>
          <p:cNvSpPr/>
          <p:nvPr/>
        </p:nvSpPr>
        <p:spPr>
          <a:xfrm>
            <a:off x="6409311" y="4416958"/>
            <a:ext cx="1279541" cy="250031"/>
          </a:xfrm>
          <a:prstGeom prst="rect">
            <a:avLst/>
          </a:prstGeom>
          <a:noFill/>
          <a:ln/>
        </p:spPr>
        <p:txBody>
          <a:bodyPr wrap="square" lIns="136017" tIns="68072" rIns="136017" bIns="68072" rtlCol="0" anchor="t">
            <a:spAutoFit/>
          </a:bodyPr>
          <a:lstStyle/>
          <a:p>
            <a:pPr algn="l" indent="0" marL="0">
              <a:lnSpc>
                <a:spcPts val="900"/>
              </a:lnSpc>
              <a:buNone/>
            </a:pPr>
            <a:r>
              <a:rPr lang="en-US" sz="683" b="1" dirty="0">
                <a:solidFill>
                  <a:srgbClr val="3B82F6"/>
                </a:solidFill>
              </a:rPr>
              <a:t>Kaynak: Gartner 2025</a:t>
            </a:r>
            <a:endParaRPr lang="en-US" sz="68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Ransomware Saldırıları Bulut Platformlarında Yaygınlaştı</a:t>
            </a:r>
            <a:endParaRPr lang="en-US" sz="1602" dirty="0"/>
          </a:p>
        </p:txBody>
      </p:sp>
      <p:sp>
        <p:nvSpPr>
          <p:cNvPr id="6" name="Text 3"/>
          <p:cNvSpPr/>
          <p:nvPr/>
        </p:nvSpPr>
        <p:spPr>
          <a:xfrm>
            <a:off x="857250" y="940101"/>
            <a:ext cx="742950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Fidye yazılımı saldırıları, bulut platformlarına yönelik en zararlı saldırı türlerinden biri haline gelmiştir. 2025'te saldırganlar, geleneksel veri şifrelemenin ötesine geçerek çok katmanlı şantaj stratejileri geliştirmiştir.</a:t>
            </a:r>
            <a:endParaRPr lang="en-US" sz="834" dirty="0"/>
          </a:p>
        </p:txBody>
      </p:sp>
      <p:sp>
        <p:nvSpPr>
          <p:cNvPr id="7" name="Text 4"/>
          <p:cNvSpPr/>
          <p:nvPr/>
        </p:nvSpPr>
        <p:spPr>
          <a:xfrm>
            <a:off x="857250" y="1520140"/>
            <a:ext cx="7429500" cy="23395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3B82F6"/>
                </a:solidFill>
              </a:rPr>
              <a:t>Üç Katmanlı Şantaj Stratejisi</a:t>
            </a:r>
            <a:endParaRPr lang="en-US" sz="1193" dirty="0"/>
          </a:p>
        </p:txBody>
      </p:sp>
      <p:sp>
        <p:nvSpPr>
          <p:cNvPr id="8" name="Shape 5"/>
          <p:cNvSpPr/>
          <p:nvPr/>
        </p:nvSpPr>
        <p:spPr>
          <a:xfrm>
            <a:off x="857250" y="1932691"/>
            <a:ext cx="2333606" cy="1741289"/>
          </a:xfrm>
          <a:prstGeom prst="rect">
            <a:avLst/>
          </a:prstGeom>
          <a:solidFill>
            <a:srgbClr val="EF4444">
              <a:alpha val="10000"/>
            </a:srgbClr>
          </a:solidFill>
          <a:ln w="18288">
            <a:solidFill>
              <a:srgbClr val="EF4444"/>
            </a:solidFill>
            <a:prstDash val="solid"/>
          </a:ln>
        </p:spPr>
      </p:sp>
      <p:sp>
        <p:nvSpPr>
          <p:cNvPr id="9" name="Shape 6"/>
          <p:cNvSpPr/>
          <p:nvPr/>
        </p:nvSpPr>
        <p:spPr>
          <a:xfrm>
            <a:off x="1809741" y="2111285"/>
            <a:ext cx="428625" cy="428625"/>
          </a:xfrm>
          <a:prstGeom prst="rect">
            <a:avLst/>
          </a:prstGeom>
          <a:solidFill>
            <a:srgbClr val="EF4444"/>
          </a:solidFill>
          <a:ln/>
        </p:spPr>
      </p:sp>
      <p:sp>
        <p:nvSpPr>
          <p:cNvPr id="10" name="Text 7"/>
          <p:cNvSpPr/>
          <p:nvPr/>
        </p:nvSpPr>
        <p:spPr>
          <a:xfrm>
            <a:off x="1809741" y="2111285"/>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1</a:t>
            </a:r>
            <a:endParaRPr lang="en-US" sz="1397" dirty="0"/>
          </a:p>
        </p:txBody>
      </p:sp>
      <p:sp>
        <p:nvSpPr>
          <p:cNvPr id="11" name="Text 8"/>
          <p:cNvSpPr/>
          <p:nvPr/>
        </p:nvSpPr>
        <p:spPr>
          <a:xfrm>
            <a:off x="1525609" y="2682785"/>
            <a:ext cx="996860"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EF4444"/>
                </a:solidFill>
              </a:rPr>
              <a:t>Veri Şifreleme</a:t>
            </a:r>
            <a:endParaRPr lang="en-US" sz="987" dirty="0"/>
          </a:p>
        </p:txBody>
      </p:sp>
      <p:sp>
        <p:nvSpPr>
          <p:cNvPr id="12" name="Text 9"/>
          <p:cNvSpPr/>
          <p:nvPr/>
        </p:nvSpPr>
        <p:spPr>
          <a:xfrm>
            <a:off x="1035844" y="2984609"/>
            <a:ext cx="1976419" cy="482203"/>
          </a:xfrm>
          <a:prstGeom prst="rect">
            <a:avLst/>
          </a:prstGeom>
          <a:noFill/>
          <a:ln/>
        </p:spPr>
        <p:txBody>
          <a:bodyPr wrap="square" lIns="0" tIns="0" rIns="0" bIns="0" rtlCol="0" anchor="t">
            <a:spAutoFit/>
          </a:bodyPr>
          <a:lstStyle/>
          <a:p>
            <a:pPr algn="ctr" indent="0" marL="0">
              <a:lnSpc>
                <a:spcPts val="1300"/>
              </a:lnSpc>
              <a:buNone/>
            </a:pPr>
            <a:r>
              <a:rPr lang="en-US" sz="780" dirty="0">
                <a:solidFill>
                  <a:srgbClr val="E5E7EB"/>
                </a:solidFill>
              </a:rPr>
              <a:t>Kurbanın verilerini şifreleyerek erişimi engelleme ve fidye talep etme. Geleneksel ransomware yöntemi.</a:t>
            </a:r>
            <a:endParaRPr lang="en-US" sz="780" dirty="0"/>
          </a:p>
        </p:txBody>
      </p:sp>
      <p:sp>
        <p:nvSpPr>
          <p:cNvPr id="13" name="Shape 10"/>
          <p:cNvSpPr/>
          <p:nvPr/>
        </p:nvSpPr>
        <p:spPr>
          <a:xfrm>
            <a:off x="3405169" y="1932691"/>
            <a:ext cx="2333634" cy="1741289"/>
          </a:xfrm>
          <a:prstGeom prst="rect">
            <a:avLst/>
          </a:prstGeom>
          <a:solidFill>
            <a:srgbClr val="EF4444">
              <a:alpha val="10000"/>
            </a:srgbClr>
          </a:solidFill>
          <a:ln w="18288">
            <a:solidFill>
              <a:srgbClr val="EF4444"/>
            </a:solidFill>
            <a:prstDash val="solid"/>
          </a:ln>
        </p:spPr>
      </p:sp>
      <p:sp>
        <p:nvSpPr>
          <p:cNvPr id="14" name="Shape 11"/>
          <p:cNvSpPr/>
          <p:nvPr/>
        </p:nvSpPr>
        <p:spPr>
          <a:xfrm>
            <a:off x="4357660" y="2111285"/>
            <a:ext cx="428625" cy="428625"/>
          </a:xfrm>
          <a:prstGeom prst="rect">
            <a:avLst/>
          </a:prstGeom>
          <a:solidFill>
            <a:srgbClr val="EF4444"/>
          </a:solidFill>
          <a:ln/>
        </p:spPr>
      </p:sp>
      <p:sp>
        <p:nvSpPr>
          <p:cNvPr id="15" name="Text 12"/>
          <p:cNvSpPr/>
          <p:nvPr/>
        </p:nvSpPr>
        <p:spPr>
          <a:xfrm>
            <a:off x="4357660" y="2111285"/>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2</a:t>
            </a:r>
            <a:endParaRPr lang="en-US" sz="1397" dirty="0"/>
          </a:p>
        </p:txBody>
      </p:sp>
      <p:sp>
        <p:nvSpPr>
          <p:cNvPr id="16" name="Text 13"/>
          <p:cNvSpPr/>
          <p:nvPr/>
        </p:nvSpPr>
        <p:spPr>
          <a:xfrm>
            <a:off x="4202060" y="2682785"/>
            <a:ext cx="73982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EF4444"/>
                </a:solidFill>
              </a:rPr>
              <a:t>Çift Şantaj</a:t>
            </a:r>
            <a:endParaRPr lang="en-US" sz="987" dirty="0"/>
          </a:p>
        </p:txBody>
      </p:sp>
      <p:sp>
        <p:nvSpPr>
          <p:cNvPr id="17" name="Text 14"/>
          <p:cNvSpPr/>
          <p:nvPr/>
        </p:nvSpPr>
        <p:spPr>
          <a:xfrm>
            <a:off x="3583763" y="2984609"/>
            <a:ext cx="1976447" cy="482203"/>
          </a:xfrm>
          <a:prstGeom prst="rect">
            <a:avLst/>
          </a:prstGeom>
          <a:noFill/>
          <a:ln/>
        </p:spPr>
        <p:txBody>
          <a:bodyPr wrap="square" lIns="0" tIns="0" rIns="0" bIns="0" rtlCol="0" anchor="t">
            <a:spAutoFit/>
          </a:bodyPr>
          <a:lstStyle/>
          <a:p>
            <a:pPr algn="ctr" indent="0" marL="0">
              <a:lnSpc>
                <a:spcPts val="1300"/>
              </a:lnSpc>
              <a:buNone/>
            </a:pPr>
            <a:r>
              <a:rPr lang="en-US" sz="780" dirty="0">
                <a:solidFill>
                  <a:srgbClr val="E5E7EB"/>
                </a:solidFill>
              </a:rPr>
              <a:t>Şifrelemeye ek olarak, sızdırılan verilerin kamuya açıklanması tehdidi ile ikinci bir baskı katmanı oluşturma.</a:t>
            </a:r>
            <a:endParaRPr lang="en-US" sz="780" dirty="0"/>
          </a:p>
        </p:txBody>
      </p:sp>
      <p:sp>
        <p:nvSpPr>
          <p:cNvPr id="18" name="Shape 15"/>
          <p:cNvSpPr/>
          <p:nvPr/>
        </p:nvSpPr>
        <p:spPr>
          <a:xfrm>
            <a:off x="5953116" y="1932691"/>
            <a:ext cx="2333606" cy="1741289"/>
          </a:xfrm>
          <a:prstGeom prst="rect">
            <a:avLst/>
          </a:prstGeom>
          <a:solidFill>
            <a:srgbClr val="EF4444">
              <a:alpha val="10000"/>
            </a:srgbClr>
          </a:solidFill>
          <a:ln w="18288">
            <a:solidFill>
              <a:srgbClr val="EF4444"/>
            </a:solidFill>
            <a:prstDash val="solid"/>
          </a:ln>
        </p:spPr>
      </p:sp>
      <p:sp>
        <p:nvSpPr>
          <p:cNvPr id="19" name="Shape 16"/>
          <p:cNvSpPr/>
          <p:nvPr/>
        </p:nvSpPr>
        <p:spPr>
          <a:xfrm>
            <a:off x="6905606" y="2111285"/>
            <a:ext cx="428625" cy="428625"/>
          </a:xfrm>
          <a:prstGeom prst="rect">
            <a:avLst/>
          </a:prstGeom>
          <a:solidFill>
            <a:srgbClr val="EF4444"/>
          </a:solidFill>
          <a:ln/>
        </p:spPr>
      </p:sp>
      <p:sp>
        <p:nvSpPr>
          <p:cNvPr id="20" name="Text 17"/>
          <p:cNvSpPr/>
          <p:nvPr/>
        </p:nvSpPr>
        <p:spPr>
          <a:xfrm>
            <a:off x="6905606" y="2111285"/>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3</a:t>
            </a:r>
            <a:endParaRPr lang="en-US" sz="1397" dirty="0"/>
          </a:p>
        </p:txBody>
      </p:sp>
      <p:sp>
        <p:nvSpPr>
          <p:cNvPr id="21" name="Text 18"/>
          <p:cNvSpPr/>
          <p:nvPr/>
        </p:nvSpPr>
        <p:spPr>
          <a:xfrm>
            <a:off x="6716492" y="2682785"/>
            <a:ext cx="80682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EF4444"/>
                </a:solidFill>
              </a:rPr>
              <a:t>Üçlü Şantaj</a:t>
            </a:r>
            <a:endParaRPr lang="en-US" sz="987" dirty="0"/>
          </a:p>
        </p:txBody>
      </p:sp>
      <p:sp>
        <p:nvSpPr>
          <p:cNvPr id="22" name="Text 19"/>
          <p:cNvSpPr/>
          <p:nvPr/>
        </p:nvSpPr>
        <p:spPr>
          <a:xfrm>
            <a:off x="6131709" y="2984609"/>
            <a:ext cx="1976419" cy="482203"/>
          </a:xfrm>
          <a:prstGeom prst="rect">
            <a:avLst/>
          </a:prstGeom>
          <a:noFill/>
          <a:ln/>
        </p:spPr>
        <p:txBody>
          <a:bodyPr wrap="square" lIns="0" tIns="0" rIns="0" bIns="0" rtlCol="0" anchor="t">
            <a:spAutoFit/>
          </a:bodyPr>
          <a:lstStyle/>
          <a:p>
            <a:pPr algn="ctr" indent="0" marL="0">
              <a:lnSpc>
                <a:spcPts val="1300"/>
              </a:lnSpc>
              <a:buNone/>
            </a:pPr>
            <a:r>
              <a:rPr lang="en-US" sz="780" dirty="0">
                <a:solidFill>
                  <a:srgbClr val="E5E7EB"/>
                </a:solidFill>
              </a:rPr>
              <a:t>Kurbanın müşterilerine veya iş ortaklarına doğrudan saldırı tehdidi ile üçüncü bir şantaj boyutu ekleme.</a:t>
            </a:r>
            <a:endParaRPr lang="en-US" sz="780" dirty="0"/>
          </a:p>
        </p:txBody>
      </p:sp>
      <p:sp>
        <p:nvSpPr>
          <p:cNvPr id="23" name="Shape 20"/>
          <p:cNvSpPr/>
          <p:nvPr/>
        </p:nvSpPr>
        <p:spPr>
          <a:xfrm>
            <a:off x="857250" y="3932941"/>
            <a:ext cx="7429500" cy="1060847"/>
          </a:xfrm>
          <a:prstGeom prst="rect">
            <a:avLst/>
          </a:prstGeom>
          <a:solidFill>
            <a:srgbClr val="EF4444">
              <a:alpha val="15000"/>
            </a:srgbClr>
          </a:solidFill>
          <a:ln/>
        </p:spPr>
      </p:sp>
      <p:sp>
        <p:nvSpPr>
          <p:cNvPr id="24" name="Shape 21"/>
          <p:cNvSpPr/>
          <p:nvPr/>
        </p:nvSpPr>
        <p:spPr>
          <a:xfrm>
            <a:off x="857250" y="3932941"/>
            <a:ext cx="28575" cy="1060847"/>
          </a:xfrm>
          <a:prstGeom prst="rect">
            <a:avLst/>
          </a:prstGeom>
          <a:solidFill>
            <a:srgbClr val="3B82F6"/>
          </a:solidFill>
          <a:ln/>
        </p:spPr>
      </p:sp>
      <p:sp>
        <p:nvSpPr>
          <p:cNvPr id="25" name="Text 22"/>
          <p:cNvSpPr/>
          <p:nvPr/>
        </p:nvSpPr>
        <p:spPr>
          <a:xfrm>
            <a:off x="1035844" y="4075816"/>
            <a:ext cx="707231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Bulut Ortamlarının Cazibesini Artıran Faktörler</a:t>
            </a:r>
            <a:endParaRPr lang="en-US" sz="885" dirty="0"/>
          </a:p>
        </p:txBody>
      </p:sp>
      <p:sp>
        <p:nvSpPr>
          <p:cNvPr id="26" name="Text 23"/>
          <p:cNvSpPr/>
          <p:nvPr/>
        </p:nvSpPr>
        <p:spPr>
          <a:xfrm>
            <a:off x="1035844" y="4336563"/>
            <a:ext cx="7072313"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5E7EB"/>
                </a:solidFill>
              </a:rPr>
              <a:t>Bulut ortamlarının yüksek erişilebilirliği ve veri yoğunluğu, ransomware saldırılarını daha cazip hale getirmektedir. Bir kez bulut ortamına giren saldırganlar, geniş veri setlerine hızlı erişim sağlayabilmekte ve saldırının etkisini maksimize edebilmektedirler. Yedekleme stratejileri, erişim kontrolleri ve olay müdahale planları, bu tehdide karşı etkili savunmanın temel bileşenleridir.</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OAuth Token Kötüye Kullanımı Milyonlarca Kaydı Tehlikeye Attı</a:t>
            </a:r>
            <a:endParaRPr lang="en-US" sz="1602" dirty="0"/>
          </a:p>
        </p:txBody>
      </p:sp>
      <p:sp>
        <p:nvSpPr>
          <p:cNvPr id="6" name="Text 3"/>
          <p:cNvSpPr/>
          <p:nvPr/>
        </p:nvSpPr>
        <p:spPr>
          <a:xfrm>
            <a:off x="857250" y="917274"/>
            <a:ext cx="3889772"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OAuth protokolü, modern bulut uygulamalarının kimlik doğrulama ve yetkilendirme mekanizmasının merkezinde yer almaktadır. Ancak 2025'te, OAuth token ihlalleri ciddi veri kaybına neden olmuştur.</a:t>
            </a:r>
            <a:endParaRPr lang="en-US" sz="834" dirty="0"/>
          </a:p>
        </p:txBody>
      </p:sp>
      <p:sp>
        <p:nvSpPr>
          <p:cNvPr id="7" name="Shape 4"/>
          <p:cNvSpPr/>
          <p:nvPr/>
        </p:nvSpPr>
        <p:spPr>
          <a:xfrm>
            <a:off x="857250" y="1608739"/>
            <a:ext cx="3889772" cy="901898"/>
          </a:xfrm>
          <a:prstGeom prst="rect">
            <a:avLst/>
          </a:prstGeom>
          <a:solidFill>
            <a:srgbClr val="3B82F6">
              <a:alpha val="10000"/>
            </a:srgbClr>
          </a:solidFill>
          <a:ln w="18288">
            <a:solidFill>
              <a:srgbClr val="EF4444"/>
            </a:solidFill>
            <a:prstDash val="solid"/>
          </a:ln>
        </p:spPr>
      </p:sp>
      <p:sp>
        <p:nvSpPr>
          <p:cNvPr id="8" name="Text 5"/>
          <p:cNvSpPr/>
          <p:nvPr/>
        </p:nvSpPr>
        <p:spPr>
          <a:xfrm>
            <a:off x="1000125" y="1765902"/>
            <a:ext cx="3604022"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F4444"/>
                </a:solidFill>
              </a:rPr>
              <a:t>Salesforce &amp; Gainsight İhlalleri</a:t>
            </a:r>
            <a:endParaRPr lang="en-US" sz="987" dirty="0"/>
          </a:p>
        </p:txBody>
      </p:sp>
      <p:sp>
        <p:nvSpPr>
          <p:cNvPr id="9" name="Text 6"/>
          <p:cNvSpPr/>
          <p:nvPr/>
        </p:nvSpPr>
        <p:spPr>
          <a:xfrm>
            <a:off x="1000125" y="2032006"/>
            <a:ext cx="3604022"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5E7EB"/>
                </a:solidFill>
              </a:rPr>
              <a:t>Saldırganlar, geçerli OAuth token'larını ele geçirerek meşru uygulama gibi davranarak milyonlarca kaydı çaldılar.</a:t>
            </a:r>
            <a:endParaRPr lang="en-US" sz="780" dirty="0"/>
          </a:p>
        </p:txBody>
      </p:sp>
      <p:sp>
        <p:nvSpPr>
          <p:cNvPr id="10" name="Shape 7"/>
          <p:cNvSpPr/>
          <p:nvPr/>
        </p:nvSpPr>
        <p:spPr>
          <a:xfrm>
            <a:off x="857250" y="2639225"/>
            <a:ext cx="3889772" cy="464344"/>
          </a:xfrm>
          <a:prstGeom prst="rect">
            <a:avLst/>
          </a:prstGeom>
          <a:solidFill>
            <a:srgbClr val="3B82F6">
              <a:alpha val="10000"/>
            </a:srgbClr>
          </a:solidFill>
          <a:ln/>
        </p:spPr>
      </p:sp>
      <p:sp>
        <p:nvSpPr>
          <p:cNvPr id="11" name="Shape 8"/>
          <p:cNvSpPr/>
          <p:nvPr/>
        </p:nvSpPr>
        <p:spPr>
          <a:xfrm>
            <a:off x="857250" y="2639225"/>
            <a:ext cx="28575" cy="464344"/>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985838" y="2724950"/>
            <a:ext cx="128588" cy="128588"/>
          </a:xfrm>
          <a:prstGeom prst="rect">
            <a:avLst/>
          </a:prstGeom>
        </p:spPr>
      </p:pic>
      <p:sp>
        <p:nvSpPr>
          <p:cNvPr id="13" name="Text 9"/>
          <p:cNvSpPr/>
          <p:nvPr/>
        </p:nvSpPr>
        <p:spPr>
          <a:xfrm>
            <a:off x="1200150" y="2710662"/>
            <a:ext cx="3418284"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E5E7EB"/>
                </a:solidFill>
              </a:rPr>
              <a:t>Yetersiz Rate Limiting:</a:t>
            </a:r>
            <a:pPr algn="l" indent="0" marL="0">
              <a:lnSpc>
                <a:spcPts val="1300"/>
              </a:lnSpc>
              <a:buNone/>
            </a:pPr>
            <a:r>
              <a:rPr lang="en-US" sz="780" dirty="0">
                <a:solidFill>
                  <a:srgbClr val="E5E7EB"/>
                </a:solidFill>
              </a:rPr>
              <a:t> API çağrı sınırlamaları, toplu veri </a:t>
            </a:r>
            <a:pPr algn="l" indent="0" marL="0">
              <a:lnSpc>
                <a:spcPts val="1300"/>
              </a:lnSpc>
              <a:buNone/>
            </a:pPr>
            <a:r>
              <a:rPr lang="en-US" sz="780" dirty="0">
                <a:solidFill>
                  <a:srgbClr val="E5E7EB"/>
                </a:solidFill>
              </a:rPr>
              <a:t>çalınmasını engelleyemiyor.</a:t>
            </a:r>
            <a:endParaRPr lang="en-US" sz="734" dirty="0"/>
          </a:p>
        </p:txBody>
      </p:sp>
      <p:sp>
        <p:nvSpPr>
          <p:cNvPr id="14" name="Shape 10"/>
          <p:cNvSpPr/>
          <p:nvPr/>
        </p:nvSpPr>
        <p:spPr>
          <a:xfrm>
            <a:off x="857250" y="3189294"/>
            <a:ext cx="3889772" cy="464344"/>
          </a:xfrm>
          <a:prstGeom prst="rect">
            <a:avLst/>
          </a:prstGeom>
          <a:solidFill>
            <a:srgbClr val="3B82F6">
              <a:alpha val="10000"/>
            </a:srgbClr>
          </a:solidFill>
          <a:ln/>
        </p:spPr>
      </p:sp>
      <p:sp>
        <p:nvSpPr>
          <p:cNvPr id="15" name="Shape 11"/>
          <p:cNvSpPr/>
          <p:nvPr/>
        </p:nvSpPr>
        <p:spPr>
          <a:xfrm>
            <a:off x="857250" y="3189294"/>
            <a:ext cx="28575" cy="464344"/>
          </a:xfrm>
          <a:prstGeom prst="rect">
            <a:avLst/>
          </a:prstGeom>
          <a:solidFill>
            <a:srgbClr val="3B82F6"/>
          </a:solidFill>
          <a:ln/>
        </p:spPr>
      </p:sp>
      <p:pic>
        <p:nvPicPr>
          <p:cNvPr id="16" name="Image 2" descr="preencoded.png">    </p:cNvPr>
          <p:cNvPicPr>
            <a:picLocks noChangeAspect="1"/>
          </p:cNvPicPr>
          <p:nvPr/>
        </p:nvPicPr>
        <p:blipFill>
          <a:blip r:embed="rId3"/>
          <a:stretch>
            <a:fillRect/>
          </a:stretch>
        </p:blipFill>
        <p:spPr>
          <a:xfrm>
            <a:off x="985838" y="3275019"/>
            <a:ext cx="128588" cy="128588"/>
          </a:xfrm>
          <a:prstGeom prst="rect">
            <a:avLst/>
          </a:prstGeom>
        </p:spPr>
      </p:pic>
      <p:sp>
        <p:nvSpPr>
          <p:cNvPr id="17" name="Text 12"/>
          <p:cNvSpPr/>
          <p:nvPr/>
        </p:nvSpPr>
        <p:spPr>
          <a:xfrm>
            <a:off x="1200150" y="3260731"/>
            <a:ext cx="3418284"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E5E7EB"/>
                </a:solidFill>
              </a:rPr>
              <a:t>Uzun Token Ömrü:</a:t>
            </a:r>
            <a:pPr algn="l" indent="0" marL="0">
              <a:lnSpc>
                <a:spcPts val="1300"/>
              </a:lnSpc>
              <a:buNone/>
            </a:pPr>
            <a:r>
              <a:rPr lang="en-US" sz="780" dirty="0">
                <a:solidFill>
                  <a:srgbClr val="E5E7EB"/>
                </a:solidFill>
              </a:rPr>
              <a:t> Token'ların süresi dolmadan uzun süre geçerli </a:t>
            </a:r>
            <a:pPr algn="l" indent="0" marL="0">
              <a:lnSpc>
                <a:spcPts val="1300"/>
              </a:lnSpc>
              <a:buNone/>
            </a:pPr>
            <a:r>
              <a:rPr lang="en-US" sz="780" dirty="0">
                <a:solidFill>
                  <a:srgbClr val="E5E7EB"/>
                </a:solidFill>
              </a:rPr>
              <a:t>kalması riski artırıyor.</a:t>
            </a:r>
            <a:endParaRPr lang="en-US" sz="734" dirty="0"/>
          </a:p>
        </p:txBody>
      </p:sp>
      <p:sp>
        <p:nvSpPr>
          <p:cNvPr id="18" name="Shape 13"/>
          <p:cNvSpPr/>
          <p:nvPr/>
        </p:nvSpPr>
        <p:spPr>
          <a:xfrm>
            <a:off x="857250" y="3739362"/>
            <a:ext cx="3889772" cy="464344"/>
          </a:xfrm>
          <a:prstGeom prst="rect">
            <a:avLst/>
          </a:prstGeom>
          <a:solidFill>
            <a:srgbClr val="3B82F6">
              <a:alpha val="10000"/>
            </a:srgbClr>
          </a:solidFill>
          <a:ln/>
        </p:spPr>
      </p:sp>
      <p:sp>
        <p:nvSpPr>
          <p:cNvPr id="19" name="Shape 14"/>
          <p:cNvSpPr/>
          <p:nvPr/>
        </p:nvSpPr>
        <p:spPr>
          <a:xfrm>
            <a:off x="857250" y="3739362"/>
            <a:ext cx="28575" cy="464344"/>
          </a:xfrm>
          <a:prstGeom prst="rect">
            <a:avLst/>
          </a:prstGeom>
          <a:solidFill>
            <a:srgbClr val="3B82F6"/>
          </a:solidFill>
          <a:ln/>
        </p:spPr>
      </p:sp>
      <p:pic>
        <p:nvPicPr>
          <p:cNvPr id="20" name="Image 3" descr="preencoded.png">    </p:cNvPr>
          <p:cNvPicPr>
            <a:picLocks noChangeAspect="1"/>
          </p:cNvPicPr>
          <p:nvPr/>
        </p:nvPicPr>
        <p:blipFill>
          <a:blip r:embed="rId4"/>
          <a:stretch>
            <a:fillRect/>
          </a:stretch>
        </p:blipFill>
        <p:spPr>
          <a:xfrm>
            <a:off x="985838" y="3825087"/>
            <a:ext cx="128588" cy="128588"/>
          </a:xfrm>
          <a:prstGeom prst="rect">
            <a:avLst/>
          </a:prstGeom>
        </p:spPr>
      </p:pic>
      <p:sp>
        <p:nvSpPr>
          <p:cNvPr id="21" name="Text 15"/>
          <p:cNvSpPr/>
          <p:nvPr/>
        </p:nvSpPr>
        <p:spPr>
          <a:xfrm>
            <a:off x="1200150" y="3810800"/>
            <a:ext cx="3418284"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E5E7EB"/>
                </a:solidFill>
              </a:rPr>
              <a:t>Güvensiz Depolama:</a:t>
            </a:r>
            <a:pPr algn="l" indent="0" marL="0">
              <a:lnSpc>
                <a:spcPts val="1300"/>
              </a:lnSpc>
              <a:buNone/>
            </a:pPr>
            <a:r>
              <a:rPr lang="en-US" sz="780" dirty="0">
                <a:solidFill>
                  <a:srgbClr val="E5E7EB"/>
                </a:solidFill>
              </a:rPr>
              <a:t> Token'ların şifrelenmeden saklanması ele </a:t>
            </a:r>
            <a:pPr algn="l" indent="0" marL="0">
              <a:lnSpc>
                <a:spcPts val="1300"/>
              </a:lnSpc>
              <a:buNone/>
            </a:pPr>
            <a:r>
              <a:rPr lang="en-US" sz="780" dirty="0">
                <a:solidFill>
                  <a:srgbClr val="E5E7EB"/>
                </a:solidFill>
              </a:rPr>
              <a:t>geçirilme riskini yükseltiyor.</a:t>
            </a:r>
            <a:endParaRPr lang="en-US" sz="734" dirty="0"/>
          </a:p>
        </p:txBody>
      </p:sp>
      <p:sp>
        <p:nvSpPr>
          <p:cNvPr id="22" name="Shape 16"/>
          <p:cNvSpPr/>
          <p:nvPr/>
        </p:nvSpPr>
        <p:spPr>
          <a:xfrm>
            <a:off x="857250" y="4418019"/>
            <a:ext cx="3889772" cy="698302"/>
          </a:xfrm>
          <a:prstGeom prst="rect">
            <a:avLst/>
          </a:prstGeom>
          <a:solidFill>
            <a:srgbClr val="EF4444">
              <a:alpha val="10000"/>
            </a:srgbClr>
          </a:solidFill>
          <a:ln w="9144">
            <a:solidFill>
              <a:srgbClr val="EF4444"/>
            </a:solidFill>
            <a:prstDash val="solid"/>
          </a:ln>
        </p:spPr>
      </p:sp>
      <p:sp>
        <p:nvSpPr>
          <p:cNvPr id="23" name="Text 17"/>
          <p:cNvSpPr/>
          <p:nvPr/>
        </p:nvSpPr>
        <p:spPr>
          <a:xfrm>
            <a:off x="942975" y="4510887"/>
            <a:ext cx="3718322"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F4444"/>
                </a:solidFill>
              </a:rPr>
              <a:t>API Güvenliği Kritik Öneme Sahip</a:t>
            </a:r>
            <a:endParaRPr lang="en-US" sz="784" dirty="0"/>
          </a:p>
        </p:txBody>
      </p:sp>
      <p:sp>
        <p:nvSpPr>
          <p:cNvPr id="24" name="Text 18"/>
          <p:cNvSpPr/>
          <p:nvPr/>
        </p:nvSpPr>
        <p:spPr>
          <a:xfrm>
            <a:off x="942975" y="4723414"/>
            <a:ext cx="3718322"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Token yönetimi, erişim kontrolleri ve API monitöring, bulut güvenliğinin vazgeçilmez unsurlarıdır.</a:t>
            </a:r>
            <a:endParaRPr lang="en-US" sz="727" dirty="0"/>
          </a:p>
        </p:txBody>
      </p:sp>
      <p:pic>
        <p:nvPicPr>
          <p:cNvPr id="25" name="Image 4" descr="preencoded.png">    </p:cNvPr>
          <p:cNvPicPr>
            <a:picLocks noChangeAspect="1"/>
          </p:cNvPicPr>
          <p:nvPr/>
        </p:nvPicPr>
        <p:blipFill>
          <a:blip r:embed="rId5"/>
          <a:stretch>
            <a:fillRect/>
          </a:stretch>
        </p:blipFill>
        <p:spPr>
          <a:xfrm>
            <a:off x="5104209" y="1309427"/>
            <a:ext cx="3182541" cy="3429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951514"/>
          </a:xfrm>
          <a:prstGeom prst="rect">
            <a:avLst/>
          </a:prstGeom>
          <a:solidFill>
            <a:srgbClr val="000000">
              <a:alpha val="0"/>
            </a:srgbClr>
          </a:solidFill>
          <a:ln/>
        </p:spPr>
      </p:sp>
      <p:sp>
        <p:nvSpPr>
          <p:cNvPr id="4" name="Shape 1"/>
          <p:cNvSpPr/>
          <p:nvPr/>
        </p:nvSpPr>
        <p:spPr>
          <a:xfrm>
            <a:off x="428625" y="0"/>
            <a:ext cx="42863" cy="951514"/>
          </a:xfrm>
          <a:prstGeom prst="rect">
            <a:avLst/>
          </a:prstGeom>
          <a:solidFill>
            <a:srgbClr val="EF4444"/>
          </a:solidFill>
          <a:ln/>
        </p:spPr>
      </p:sp>
      <p:sp>
        <p:nvSpPr>
          <p:cNvPr id="5" name="Text 2"/>
          <p:cNvSpPr/>
          <p:nvPr/>
        </p:nvSpPr>
        <p:spPr>
          <a:xfrm>
            <a:off x="857250" y="357188"/>
            <a:ext cx="7429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FFFFFF"/>
                </a:solidFill>
              </a:rPr>
              <a:t>Microsoft Azure Tarihin En Büyük Bulut DDoS Saldırısına Maruz Kaldı</a:t>
            </a:r>
            <a:endParaRPr lang="en-US" sz="1602" dirty="0"/>
          </a:p>
        </p:txBody>
      </p:sp>
      <p:sp>
        <p:nvSpPr>
          <p:cNvPr id="6" name="Text 3"/>
          <p:cNvSpPr/>
          <p:nvPr/>
        </p:nvSpPr>
        <p:spPr>
          <a:xfrm>
            <a:off x="857250" y="1268741"/>
            <a:ext cx="3536156"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Ekim 2025'te Microsoft Azure'a karşı gerçekleştirilen DDoS saldırısı, bulut altyapısının ölçeğini ve saldırganların kapasitesini gösteren çarpıcı bir örnek olmuştur. Aisuru botnet tarafından gerçekleştirilen bu saldırı, önceki DDoS saldırı rekorlarını önemli ölçüde aşmıştır.</a:t>
            </a:r>
            <a:endParaRPr lang="en-US" sz="834" dirty="0"/>
          </a:p>
        </p:txBody>
      </p:sp>
      <p:sp>
        <p:nvSpPr>
          <p:cNvPr id="7" name="Shape 4"/>
          <p:cNvSpPr/>
          <p:nvPr/>
        </p:nvSpPr>
        <p:spPr>
          <a:xfrm>
            <a:off x="857250" y="2354507"/>
            <a:ext cx="3536156" cy="2071688"/>
          </a:xfrm>
          <a:prstGeom prst="rect">
            <a:avLst/>
          </a:prstGeom>
          <a:solidFill>
            <a:srgbClr val="EF4444">
              <a:alpha val="10000"/>
            </a:srgbClr>
          </a:solidFill>
          <a:ln w="18288">
            <a:solidFill>
              <a:srgbClr val="EF4444"/>
            </a:solidFill>
            <a:prstDash val="solid"/>
          </a:ln>
        </p:spPr>
      </p:sp>
      <p:pic>
        <p:nvPicPr>
          <p:cNvPr id="8" name="Image 1" descr="preencoded.png">    </p:cNvPr>
          <p:cNvPicPr>
            <a:picLocks noChangeAspect="1"/>
          </p:cNvPicPr>
          <p:nvPr/>
        </p:nvPicPr>
        <p:blipFill>
          <a:blip r:embed="rId2"/>
          <a:stretch>
            <a:fillRect/>
          </a:stretch>
        </p:blipFill>
        <p:spPr>
          <a:xfrm>
            <a:off x="1028700" y="2625077"/>
            <a:ext cx="128588" cy="171450"/>
          </a:xfrm>
          <a:prstGeom prst="rect">
            <a:avLst/>
          </a:prstGeom>
        </p:spPr>
      </p:pic>
      <p:sp>
        <p:nvSpPr>
          <p:cNvPr id="9" name="Text 5"/>
          <p:cNvSpPr/>
          <p:nvPr/>
        </p:nvSpPr>
        <p:spPr>
          <a:xfrm>
            <a:off x="1314450" y="2540245"/>
            <a:ext cx="290750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rPr>
              <a:t>Saldırı Hızı</a:t>
            </a:r>
            <a:endParaRPr lang="en-US" sz="683" dirty="0"/>
          </a:p>
        </p:txBody>
      </p:sp>
      <p:sp>
        <p:nvSpPr>
          <p:cNvPr id="10" name="Text 6"/>
          <p:cNvSpPr/>
          <p:nvPr/>
        </p:nvSpPr>
        <p:spPr>
          <a:xfrm>
            <a:off x="1314450" y="2704551"/>
            <a:ext cx="29075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15.72 Terabit/saniye</a:t>
            </a:r>
            <a:endParaRPr lang="en-US" sz="885" dirty="0"/>
          </a:p>
        </p:txBody>
      </p:sp>
      <p:pic>
        <p:nvPicPr>
          <p:cNvPr id="11" name="Image 2" descr="preencoded.png">    </p:cNvPr>
          <p:cNvPicPr>
            <a:picLocks noChangeAspect="1"/>
          </p:cNvPicPr>
          <p:nvPr/>
        </p:nvPicPr>
        <p:blipFill>
          <a:blip r:embed="rId3"/>
          <a:stretch>
            <a:fillRect/>
          </a:stretch>
        </p:blipFill>
        <p:spPr>
          <a:xfrm>
            <a:off x="1028700" y="3092993"/>
            <a:ext cx="214313" cy="171450"/>
          </a:xfrm>
          <a:prstGeom prst="rect">
            <a:avLst/>
          </a:prstGeom>
        </p:spPr>
      </p:pic>
      <p:sp>
        <p:nvSpPr>
          <p:cNvPr id="12" name="Text 7"/>
          <p:cNvSpPr/>
          <p:nvPr/>
        </p:nvSpPr>
        <p:spPr>
          <a:xfrm>
            <a:off x="1314450" y="3008161"/>
            <a:ext cx="290750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rPr>
              <a:t>Paket Oranı</a:t>
            </a:r>
            <a:endParaRPr lang="en-US" sz="683" dirty="0"/>
          </a:p>
        </p:txBody>
      </p:sp>
      <p:sp>
        <p:nvSpPr>
          <p:cNvPr id="13" name="Text 8"/>
          <p:cNvSpPr/>
          <p:nvPr/>
        </p:nvSpPr>
        <p:spPr>
          <a:xfrm>
            <a:off x="1314450" y="3172467"/>
            <a:ext cx="29075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3.64 Milyar Paket/saniye</a:t>
            </a:r>
            <a:endParaRPr lang="en-US" sz="885" dirty="0"/>
          </a:p>
        </p:txBody>
      </p:sp>
      <p:pic>
        <p:nvPicPr>
          <p:cNvPr id="14" name="Image 3" descr="preencoded.png">    </p:cNvPr>
          <p:cNvPicPr>
            <a:picLocks noChangeAspect="1"/>
          </p:cNvPicPr>
          <p:nvPr/>
        </p:nvPicPr>
        <p:blipFill>
          <a:blip r:embed="rId4"/>
          <a:stretch>
            <a:fillRect/>
          </a:stretch>
        </p:blipFill>
        <p:spPr>
          <a:xfrm>
            <a:off x="1028700" y="3560908"/>
            <a:ext cx="214313" cy="171450"/>
          </a:xfrm>
          <a:prstGeom prst="rect">
            <a:avLst/>
          </a:prstGeom>
        </p:spPr>
      </p:pic>
      <p:sp>
        <p:nvSpPr>
          <p:cNvPr id="15" name="Text 9"/>
          <p:cNvSpPr/>
          <p:nvPr/>
        </p:nvSpPr>
        <p:spPr>
          <a:xfrm>
            <a:off x="1314450" y="3476076"/>
            <a:ext cx="290750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rPr>
              <a:t>Saldırı Kaynağı</a:t>
            </a:r>
            <a:endParaRPr lang="en-US" sz="683" dirty="0"/>
          </a:p>
        </p:txBody>
      </p:sp>
      <p:sp>
        <p:nvSpPr>
          <p:cNvPr id="16" name="Text 10"/>
          <p:cNvSpPr/>
          <p:nvPr/>
        </p:nvSpPr>
        <p:spPr>
          <a:xfrm>
            <a:off x="1314450" y="3640382"/>
            <a:ext cx="29075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Aisuru Botnet</a:t>
            </a:r>
            <a:endParaRPr lang="en-US" sz="885" dirty="0"/>
          </a:p>
        </p:txBody>
      </p:sp>
      <p:pic>
        <p:nvPicPr>
          <p:cNvPr id="17" name="Image 4" descr="preencoded.png">    </p:cNvPr>
          <p:cNvPicPr>
            <a:picLocks noChangeAspect="1"/>
          </p:cNvPicPr>
          <p:nvPr/>
        </p:nvPicPr>
        <p:blipFill>
          <a:blip r:embed="rId5"/>
          <a:stretch>
            <a:fillRect/>
          </a:stretch>
        </p:blipFill>
        <p:spPr>
          <a:xfrm>
            <a:off x="1028700" y="4028824"/>
            <a:ext cx="150019" cy="171450"/>
          </a:xfrm>
          <a:prstGeom prst="rect">
            <a:avLst/>
          </a:prstGeom>
        </p:spPr>
      </p:pic>
      <p:sp>
        <p:nvSpPr>
          <p:cNvPr id="18" name="Text 11"/>
          <p:cNvSpPr/>
          <p:nvPr/>
        </p:nvSpPr>
        <p:spPr>
          <a:xfrm>
            <a:off x="1314450" y="3943992"/>
            <a:ext cx="290750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rPr>
              <a:t>Tarih</a:t>
            </a:r>
            <a:endParaRPr lang="en-US" sz="683" dirty="0"/>
          </a:p>
        </p:txBody>
      </p:sp>
      <p:sp>
        <p:nvSpPr>
          <p:cNvPr id="19" name="Text 12"/>
          <p:cNvSpPr/>
          <p:nvPr/>
        </p:nvSpPr>
        <p:spPr>
          <a:xfrm>
            <a:off x="1314450" y="4108298"/>
            <a:ext cx="29075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rPr>
              <a:t>Ekim 2025</a:t>
            </a:r>
            <a:endParaRPr lang="en-US" sz="885" dirty="0"/>
          </a:p>
        </p:txBody>
      </p:sp>
      <p:sp>
        <p:nvSpPr>
          <p:cNvPr id="20" name="Text 13"/>
          <p:cNvSpPr/>
          <p:nvPr/>
        </p:nvSpPr>
        <p:spPr>
          <a:xfrm>
            <a:off x="857250" y="4583357"/>
            <a:ext cx="3536156"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5E7EB"/>
                </a:solidFill>
              </a:rPr>
              <a:t>Bulut altyapısının dağıtılmış doğası DDoS'a karşı avantajlar sağlasa da, bu saldırı saldırganların da benzer ölçekte dağıtılmış kaynaklar kullanabildiğini göstermektedir.</a:t>
            </a:r>
            <a:endParaRPr lang="en-US" sz="780" dirty="0"/>
          </a:p>
        </p:txBody>
      </p:sp>
      <p:sp>
        <p:nvSpPr>
          <p:cNvPr id="21" name="Shape 14"/>
          <p:cNvSpPr/>
          <p:nvPr/>
        </p:nvSpPr>
        <p:spPr>
          <a:xfrm>
            <a:off x="4750594" y="1500885"/>
            <a:ext cx="3536156" cy="812602"/>
          </a:xfrm>
          <a:prstGeom prst="rect">
            <a:avLst/>
          </a:prstGeom>
          <a:solidFill>
            <a:srgbClr val="EF4444">
              <a:alpha val="15000"/>
            </a:srgbClr>
          </a:solidFill>
          <a:ln/>
        </p:spPr>
      </p:sp>
      <p:sp>
        <p:nvSpPr>
          <p:cNvPr id="22" name="Shape 15"/>
          <p:cNvSpPr/>
          <p:nvPr/>
        </p:nvSpPr>
        <p:spPr>
          <a:xfrm>
            <a:off x="4750594" y="1500885"/>
            <a:ext cx="28575" cy="812602"/>
          </a:xfrm>
          <a:prstGeom prst="rect">
            <a:avLst/>
          </a:prstGeom>
          <a:solidFill>
            <a:srgbClr val="3B82F6"/>
          </a:solidFill>
          <a:ln/>
        </p:spPr>
      </p:sp>
      <p:sp>
        <p:nvSpPr>
          <p:cNvPr id="23" name="Text 16"/>
          <p:cNvSpPr/>
          <p:nvPr/>
        </p:nvSpPr>
        <p:spPr>
          <a:xfrm>
            <a:off x="4922044" y="1672335"/>
            <a:ext cx="3193256" cy="400050"/>
          </a:xfrm>
          <a:prstGeom prst="rect">
            <a:avLst/>
          </a:prstGeom>
          <a:noFill/>
          <a:ln/>
        </p:spPr>
        <p:txBody>
          <a:bodyPr wrap="none" lIns="0" tIns="0" rIns="0" bIns="0" rtlCol="0" anchor="t">
            <a:spAutoFit/>
          </a:bodyPr>
          <a:lstStyle/>
          <a:p>
            <a:pPr algn="ctr" indent="0" marL="0">
              <a:lnSpc>
                <a:spcPts val="3200"/>
              </a:lnSpc>
              <a:buNone/>
            </a:pPr>
            <a:r>
              <a:rPr lang="en-US" sz="2862" b="1" dirty="0">
                <a:solidFill>
                  <a:srgbClr val="EF4444"/>
                </a:solidFill>
              </a:rPr>
              <a:t>15.72</a:t>
            </a:r>
            <a:endParaRPr lang="en-US" sz="2862" dirty="0"/>
          </a:p>
        </p:txBody>
      </p:sp>
      <p:sp>
        <p:nvSpPr>
          <p:cNvPr id="24" name="Text 17"/>
          <p:cNvSpPr/>
          <p:nvPr/>
        </p:nvSpPr>
        <p:spPr>
          <a:xfrm>
            <a:off x="4922044" y="2158110"/>
            <a:ext cx="3193256"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E5E7EB"/>
                </a:solidFill>
              </a:rPr>
              <a:t>Tbps Saldırı Hızı</a:t>
            </a:r>
            <a:endParaRPr lang="en-US" sz="784" dirty="0"/>
          </a:p>
        </p:txBody>
      </p:sp>
      <p:sp>
        <p:nvSpPr>
          <p:cNvPr id="25" name="Shape 18"/>
          <p:cNvSpPr/>
          <p:nvPr/>
        </p:nvSpPr>
        <p:spPr>
          <a:xfrm>
            <a:off x="4750594" y="2456362"/>
            <a:ext cx="3536156" cy="812602"/>
          </a:xfrm>
          <a:prstGeom prst="rect">
            <a:avLst/>
          </a:prstGeom>
          <a:solidFill>
            <a:srgbClr val="EF4444">
              <a:alpha val="15000"/>
            </a:srgbClr>
          </a:solidFill>
          <a:ln/>
        </p:spPr>
      </p:sp>
      <p:sp>
        <p:nvSpPr>
          <p:cNvPr id="26" name="Shape 19"/>
          <p:cNvSpPr/>
          <p:nvPr/>
        </p:nvSpPr>
        <p:spPr>
          <a:xfrm>
            <a:off x="4750594" y="2456362"/>
            <a:ext cx="28575" cy="812602"/>
          </a:xfrm>
          <a:prstGeom prst="rect">
            <a:avLst/>
          </a:prstGeom>
          <a:solidFill>
            <a:srgbClr val="3B82F6"/>
          </a:solidFill>
          <a:ln/>
        </p:spPr>
      </p:sp>
      <p:sp>
        <p:nvSpPr>
          <p:cNvPr id="27" name="Text 20"/>
          <p:cNvSpPr/>
          <p:nvPr/>
        </p:nvSpPr>
        <p:spPr>
          <a:xfrm>
            <a:off x="4922044" y="2627812"/>
            <a:ext cx="3193256" cy="400050"/>
          </a:xfrm>
          <a:prstGeom prst="rect">
            <a:avLst/>
          </a:prstGeom>
          <a:noFill/>
          <a:ln/>
        </p:spPr>
        <p:txBody>
          <a:bodyPr wrap="none" lIns="0" tIns="0" rIns="0" bIns="0" rtlCol="0" anchor="t">
            <a:spAutoFit/>
          </a:bodyPr>
          <a:lstStyle/>
          <a:p>
            <a:pPr algn="ctr" indent="0" marL="0">
              <a:lnSpc>
                <a:spcPts val="3200"/>
              </a:lnSpc>
              <a:buNone/>
            </a:pPr>
            <a:r>
              <a:rPr lang="en-US" sz="2862" b="1" dirty="0">
                <a:solidFill>
                  <a:srgbClr val="EF4444"/>
                </a:solidFill>
              </a:rPr>
              <a:t>3.64B</a:t>
            </a:r>
            <a:endParaRPr lang="en-US" sz="2862" dirty="0"/>
          </a:p>
        </p:txBody>
      </p:sp>
      <p:sp>
        <p:nvSpPr>
          <p:cNvPr id="28" name="Text 21"/>
          <p:cNvSpPr/>
          <p:nvPr/>
        </p:nvSpPr>
        <p:spPr>
          <a:xfrm>
            <a:off x="4922044" y="3113587"/>
            <a:ext cx="3193256"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E5E7EB"/>
                </a:solidFill>
              </a:rPr>
              <a:t>Paket/Saniye</a:t>
            </a:r>
            <a:endParaRPr lang="en-US" sz="784" dirty="0"/>
          </a:p>
        </p:txBody>
      </p:sp>
      <p:sp>
        <p:nvSpPr>
          <p:cNvPr id="29" name="Shape 22"/>
          <p:cNvSpPr/>
          <p:nvPr/>
        </p:nvSpPr>
        <p:spPr>
          <a:xfrm>
            <a:off x="4750594" y="3411838"/>
            <a:ext cx="3536156" cy="1468041"/>
          </a:xfrm>
          <a:prstGeom prst="rect">
            <a:avLst/>
          </a:prstGeom>
          <a:solidFill>
            <a:srgbClr val="3B82F6">
              <a:alpha val="10000"/>
            </a:srgbClr>
          </a:solidFill>
          <a:ln w="18288">
            <a:solidFill>
              <a:srgbClr val="3B82F6"/>
            </a:solidFill>
            <a:prstDash val="solid"/>
          </a:ln>
        </p:spPr>
      </p:sp>
      <p:sp>
        <p:nvSpPr>
          <p:cNvPr id="30" name="Text 23"/>
          <p:cNvSpPr/>
          <p:nvPr/>
        </p:nvSpPr>
        <p:spPr>
          <a:xfrm>
            <a:off x="4893469" y="3569001"/>
            <a:ext cx="32504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DDoS Koruma Stratejileri</a:t>
            </a:r>
            <a:endParaRPr lang="en-US" sz="885" dirty="0"/>
          </a:p>
        </p:txBody>
      </p:sp>
      <p:sp>
        <p:nvSpPr>
          <p:cNvPr id="31" name="Text 24"/>
          <p:cNvSpPr/>
          <p:nvPr/>
        </p:nvSpPr>
        <p:spPr>
          <a:xfrm>
            <a:off x="4893469" y="3829748"/>
            <a:ext cx="100013"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3B82F6"/>
                </a:solidFill>
              </a:rPr>
              <a:t></a:t>
            </a:r>
            <a:endParaRPr lang="en-US" sz="683" dirty="0"/>
          </a:p>
        </p:txBody>
      </p:sp>
      <p:sp>
        <p:nvSpPr>
          <p:cNvPr id="32" name="Text 25"/>
          <p:cNvSpPr/>
          <p:nvPr/>
        </p:nvSpPr>
        <p:spPr>
          <a:xfrm>
            <a:off x="5064919" y="3836891"/>
            <a:ext cx="1716732"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Ağ seviyesi filtreleme ve rate limiting</a:t>
            </a:r>
            <a:endParaRPr lang="en-US" sz="727" dirty="0"/>
          </a:p>
        </p:txBody>
      </p:sp>
      <p:sp>
        <p:nvSpPr>
          <p:cNvPr id="33" name="Text 26"/>
          <p:cNvSpPr/>
          <p:nvPr/>
        </p:nvSpPr>
        <p:spPr>
          <a:xfrm>
            <a:off x="4893469" y="4036916"/>
            <a:ext cx="100013"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3B82F6"/>
                </a:solidFill>
              </a:rPr>
              <a:t></a:t>
            </a:r>
            <a:endParaRPr lang="en-US" sz="683" dirty="0"/>
          </a:p>
        </p:txBody>
      </p:sp>
      <p:sp>
        <p:nvSpPr>
          <p:cNvPr id="34" name="Text 27"/>
          <p:cNvSpPr/>
          <p:nvPr/>
        </p:nvSpPr>
        <p:spPr>
          <a:xfrm>
            <a:off x="5064919" y="4044060"/>
            <a:ext cx="1789733"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Uygulama seviyesi koruma katmanları</a:t>
            </a:r>
            <a:endParaRPr lang="en-US" sz="727" dirty="0"/>
          </a:p>
        </p:txBody>
      </p:sp>
      <p:sp>
        <p:nvSpPr>
          <p:cNvPr id="35" name="Text 28"/>
          <p:cNvSpPr/>
          <p:nvPr/>
        </p:nvSpPr>
        <p:spPr>
          <a:xfrm>
            <a:off x="4893469" y="4244085"/>
            <a:ext cx="100013"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3B82F6"/>
                </a:solidFill>
              </a:rPr>
              <a:t></a:t>
            </a:r>
            <a:endParaRPr lang="en-US" sz="683" dirty="0"/>
          </a:p>
        </p:txBody>
      </p:sp>
      <p:sp>
        <p:nvSpPr>
          <p:cNvPr id="36" name="Text 29"/>
          <p:cNvSpPr/>
          <p:nvPr/>
        </p:nvSpPr>
        <p:spPr>
          <a:xfrm>
            <a:off x="5064919" y="4251229"/>
            <a:ext cx="1493797"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IP reputation filtering sistemleri</a:t>
            </a:r>
            <a:endParaRPr lang="en-US" sz="727" dirty="0"/>
          </a:p>
        </p:txBody>
      </p:sp>
      <p:sp>
        <p:nvSpPr>
          <p:cNvPr id="37" name="Text 30"/>
          <p:cNvSpPr/>
          <p:nvPr/>
        </p:nvSpPr>
        <p:spPr>
          <a:xfrm>
            <a:off x="4893469" y="4451254"/>
            <a:ext cx="100013"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3B82F6"/>
                </a:solidFill>
              </a:rPr>
              <a:t></a:t>
            </a:r>
            <a:endParaRPr lang="en-US" sz="683" dirty="0"/>
          </a:p>
        </p:txBody>
      </p:sp>
      <p:sp>
        <p:nvSpPr>
          <p:cNvPr id="38" name="Text 31"/>
          <p:cNvSpPr/>
          <p:nvPr/>
        </p:nvSpPr>
        <p:spPr>
          <a:xfrm>
            <a:off x="5064919" y="4458398"/>
            <a:ext cx="1757642"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Anomali tespit ve otomatik müdahale</a:t>
            </a:r>
            <a:endParaRPr lang="en-US" sz="727" dirty="0"/>
          </a:p>
        </p:txBody>
      </p:sp>
      <p:sp>
        <p:nvSpPr>
          <p:cNvPr id="39" name="Text 32"/>
          <p:cNvSpPr/>
          <p:nvPr/>
        </p:nvSpPr>
        <p:spPr>
          <a:xfrm>
            <a:off x="4893469" y="4658423"/>
            <a:ext cx="100013" cy="150019"/>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3B82F6"/>
                </a:solidFill>
              </a:rPr>
              <a:t></a:t>
            </a:r>
            <a:endParaRPr lang="en-US" sz="683" dirty="0"/>
          </a:p>
        </p:txBody>
      </p:sp>
      <p:sp>
        <p:nvSpPr>
          <p:cNvPr id="40" name="Text 33"/>
          <p:cNvSpPr/>
          <p:nvPr/>
        </p:nvSpPr>
        <p:spPr>
          <a:xfrm>
            <a:off x="5064919" y="4665566"/>
            <a:ext cx="1364373"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Dağıtılmış trafik yönlendirme</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654351"/>
          </a:xfrm>
          <a:prstGeom prst="rect">
            <a:avLst/>
          </a:prstGeom>
          <a:solidFill>
            <a:srgbClr val="000000">
              <a:alpha val="0"/>
            </a:srgbClr>
          </a:solidFill>
          <a:ln/>
        </p:spPr>
      </p:sp>
      <p:sp>
        <p:nvSpPr>
          <p:cNvPr id="4" name="Shape 1"/>
          <p:cNvSpPr/>
          <p:nvPr/>
        </p:nvSpPr>
        <p:spPr>
          <a:xfrm>
            <a:off x="428625" y="0"/>
            <a:ext cx="42863" cy="654351"/>
          </a:xfrm>
          <a:prstGeom prst="rect">
            <a:avLst/>
          </a:prstGeom>
          <a:solidFill>
            <a:srgbClr val="EF4444"/>
          </a:solidFill>
          <a:ln/>
        </p:spPr>
      </p:sp>
      <p:sp>
        <p:nvSpPr>
          <p:cNvPr id="5" name="Text 2"/>
          <p:cNvSpPr/>
          <p:nvPr/>
        </p:nvSpPr>
        <p:spPr>
          <a:xfrm>
            <a:off x="857250" y="357188"/>
            <a:ext cx="74295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FFFFFF"/>
                </a:solidFill>
              </a:rPr>
              <a:t>Ticketmaster Dahil 560 Milyon Kaydın Sızdırılması</a:t>
            </a:r>
            <a:endParaRPr lang="en-US" sz="1602" dirty="0"/>
          </a:p>
        </p:txBody>
      </p:sp>
      <p:sp>
        <p:nvSpPr>
          <p:cNvPr id="6" name="Text 3"/>
          <p:cNvSpPr/>
          <p:nvPr/>
        </p:nvSpPr>
        <p:spPr>
          <a:xfrm>
            <a:off x="857250" y="1590210"/>
            <a:ext cx="3536156"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5E7EB"/>
                </a:solidFill>
              </a:rPr>
              <a:t>Snowflake, bulut tabanlı veri ambarı hizmetinin lider sağlayıcılarından biridir. Ancak 2025'te platformda gerçekleştirilen saldırı, bulut ekosisteminin ne kadar karmaşık ve riskli olabileceğini göstermiştir.</a:t>
            </a:r>
            <a:endParaRPr lang="en-US" sz="834" dirty="0"/>
          </a:p>
        </p:txBody>
      </p:sp>
      <p:sp>
        <p:nvSpPr>
          <p:cNvPr id="7" name="Shape 4"/>
          <p:cNvSpPr/>
          <p:nvPr/>
        </p:nvSpPr>
        <p:spPr>
          <a:xfrm>
            <a:off x="857250" y="2478825"/>
            <a:ext cx="3536156" cy="796528"/>
          </a:xfrm>
          <a:prstGeom prst="rect">
            <a:avLst/>
          </a:prstGeom>
          <a:solidFill>
            <a:srgbClr val="EF4444">
              <a:alpha val="10000"/>
            </a:srgbClr>
          </a:solidFill>
          <a:ln w="18288">
            <a:solidFill>
              <a:srgbClr val="EF4444"/>
            </a:solidFill>
            <a:prstDash val="solid"/>
          </a:ln>
        </p:spPr>
      </p:sp>
      <p:sp>
        <p:nvSpPr>
          <p:cNvPr id="8" name="Text 5"/>
          <p:cNvSpPr/>
          <p:nvPr/>
        </p:nvSpPr>
        <p:spPr>
          <a:xfrm>
            <a:off x="1000125" y="2635988"/>
            <a:ext cx="32504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F4444"/>
                </a:solidFill>
              </a:rPr>
              <a:t>Etkilenen Büyük Şirketler</a:t>
            </a:r>
            <a:endParaRPr lang="en-US" sz="885" dirty="0"/>
          </a:p>
        </p:txBody>
      </p:sp>
      <p:sp>
        <p:nvSpPr>
          <p:cNvPr id="9" name="Text 6"/>
          <p:cNvSpPr/>
          <p:nvPr/>
        </p:nvSpPr>
        <p:spPr>
          <a:xfrm>
            <a:off x="1000125" y="2896735"/>
            <a:ext cx="1589484" cy="146447"/>
          </a:xfrm>
          <a:prstGeom prst="rect">
            <a:avLst/>
          </a:prstGeom>
          <a:noFill/>
          <a:ln/>
        </p:spPr>
        <p:txBody>
          <a:bodyPr wrap="none" lIns="170053" tIns="0" rIns="0" bIns="0" rtlCol="0" anchor="t">
            <a:spAutoFit/>
          </a:bodyPr>
          <a:lstStyle/>
          <a:p>
            <a:pPr algn="l" indent="0" marL="0">
              <a:lnSpc>
                <a:spcPts val="1000"/>
              </a:lnSpc>
              <a:buNone/>
            </a:pPr>
            <a:r>
              <a:rPr lang="en-US" sz="734" b="1" dirty="0">
                <a:solidFill>
                  <a:srgbClr val="E5E7EB"/>
                </a:solidFill>
              </a:rPr>
              <a:t>Ticketmaster</a:t>
            </a:r>
            <a:endParaRPr lang="en-US" sz="734" dirty="0"/>
          </a:p>
        </p:txBody>
      </p:sp>
      <p:sp>
        <p:nvSpPr>
          <p:cNvPr id="10" name="Text 7"/>
          <p:cNvSpPr/>
          <p:nvPr/>
        </p:nvSpPr>
        <p:spPr>
          <a:xfrm>
            <a:off x="2661047" y="2896735"/>
            <a:ext cx="1589484" cy="146447"/>
          </a:xfrm>
          <a:prstGeom prst="rect">
            <a:avLst/>
          </a:prstGeom>
          <a:noFill/>
          <a:ln/>
        </p:spPr>
        <p:txBody>
          <a:bodyPr wrap="none" lIns="170053" tIns="0" rIns="0" bIns="0" rtlCol="0" anchor="t">
            <a:spAutoFit/>
          </a:bodyPr>
          <a:lstStyle/>
          <a:p>
            <a:pPr algn="l" indent="0" marL="0">
              <a:lnSpc>
                <a:spcPts val="1000"/>
              </a:lnSpc>
              <a:buNone/>
            </a:pPr>
            <a:r>
              <a:rPr lang="en-US" sz="734" b="1" dirty="0">
                <a:solidFill>
                  <a:srgbClr val="E5E7EB"/>
                </a:solidFill>
              </a:rPr>
              <a:t>Santander</a:t>
            </a:r>
            <a:endParaRPr lang="en-US" sz="734" dirty="0"/>
          </a:p>
        </p:txBody>
      </p:sp>
      <p:sp>
        <p:nvSpPr>
          <p:cNvPr id="11" name="Text 8"/>
          <p:cNvSpPr/>
          <p:nvPr/>
        </p:nvSpPr>
        <p:spPr>
          <a:xfrm>
            <a:off x="1000125" y="3114619"/>
            <a:ext cx="1589484" cy="146447"/>
          </a:xfrm>
          <a:prstGeom prst="rect">
            <a:avLst/>
          </a:prstGeom>
          <a:noFill/>
          <a:ln/>
        </p:spPr>
        <p:txBody>
          <a:bodyPr wrap="none" lIns="170053" tIns="0" rIns="0" bIns="0" rtlCol="0" anchor="t">
            <a:spAutoFit/>
          </a:bodyPr>
          <a:lstStyle/>
          <a:p>
            <a:pPr algn="l" indent="0" marL="0">
              <a:lnSpc>
                <a:spcPts val="1000"/>
              </a:lnSpc>
              <a:buNone/>
            </a:pPr>
            <a:r>
              <a:rPr lang="en-US" sz="734" b="1" dirty="0">
                <a:solidFill>
                  <a:srgbClr val="E5E7EB"/>
                </a:solidFill>
              </a:rPr>
              <a:t>Diğer Kurumlar</a:t>
            </a:r>
            <a:endParaRPr lang="en-US" sz="734" dirty="0"/>
          </a:p>
        </p:txBody>
      </p:sp>
      <p:sp>
        <p:nvSpPr>
          <p:cNvPr id="12" name="Shape 9"/>
          <p:cNvSpPr/>
          <p:nvPr/>
        </p:nvSpPr>
        <p:spPr>
          <a:xfrm>
            <a:off x="857250" y="3418229"/>
            <a:ext cx="3536156" cy="1060847"/>
          </a:xfrm>
          <a:prstGeom prst="rect">
            <a:avLst/>
          </a:prstGeom>
          <a:solidFill>
            <a:srgbClr val="3B82F6">
              <a:alpha val="10000"/>
            </a:srgbClr>
          </a:solidFill>
          <a:ln/>
        </p:spPr>
      </p:sp>
      <p:sp>
        <p:nvSpPr>
          <p:cNvPr id="13" name="Shape 10"/>
          <p:cNvSpPr/>
          <p:nvPr/>
        </p:nvSpPr>
        <p:spPr>
          <a:xfrm>
            <a:off x="857250" y="3418229"/>
            <a:ext cx="28575" cy="1060847"/>
          </a:xfrm>
          <a:prstGeom prst="rect">
            <a:avLst/>
          </a:prstGeom>
          <a:solidFill>
            <a:srgbClr val="3B82F6"/>
          </a:solidFill>
          <a:ln/>
        </p:spPr>
      </p:sp>
      <p:sp>
        <p:nvSpPr>
          <p:cNvPr id="14" name="Text 11"/>
          <p:cNvSpPr/>
          <p:nvPr/>
        </p:nvSpPr>
        <p:spPr>
          <a:xfrm>
            <a:off x="1000125" y="2896735"/>
            <a:ext cx="94655" cy="108942"/>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F4444"/>
                </a:solidFill>
              </a:rPr>
              <a:t></a:t>
            </a:r>
            <a:endParaRPr lang="en-US" sz="734" dirty="0"/>
          </a:p>
        </p:txBody>
      </p:sp>
      <p:sp>
        <p:nvSpPr>
          <p:cNvPr id="15" name="Text 12"/>
          <p:cNvSpPr/>
          <p:nvPr/>
        </p:nvSpPr>
        <p:spPr>
          <a:xfrm>
            <a:off x="2661047" y="2896735"/>
            <a:ext cx="94655" cy="108942"/>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F4444"/>
                </a:solidFill>
              </a:rPr>
              <a:t></a:t>
            </a:r>
            <a:endParaRPr lang="en-US" sz="734" dirty="0"/>
          </a:p>
        </p:txBody>
      </p:sp>
      <p:sp>
        <p:nvSpPr>
          <p:cNvPr id="16" name="Text 13"/>
          <p:cNvSpPr/>
          <p:nvPr/>
        </p:nvSpPr>
        <p:spPr>
          <a:xfrm>
            <a:off x="1000125" y="3114619"/>
            <a:ext cx="94655" cy="108942"/>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F4444"/>
                </a:solidFill>
              </a:rPr>
              <a:t></a:t>
            </a:r>
            <a:endParaRPr lang="en-US" sz="734" dirty="0"/>
          </a:p>
        </p:txBody>
      </p:sp>
      <p:sp>
        <p:nvSpPr>
          <p:cNvPr id="17" name="Text 14"/>
          <p:cNvSpPr/>
          <p:nvPr/>
        </p:nvSpPr>
        <p:spPr>
          <a:xfrm>
            <a:off x="1000125" y="3546816"/>
            <a:ext cx="32504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Saldırı Vektörü: Kimlik Yönetimi Zafiyetleri</a:t>
            </a:r>
            <a:endParaRPr lang="en-US" sz="885" dirty="0"/>
          </a:p>
        </p:txBody>
      </p:sp>
      <p:sp>
        <p:nvSpPr>
          <p:cNvPr id="18" name="Text 15"/>
          <p:cNvSpPr/>
          <p:nvPr/>
        </p:nvSpPr>
        <p:spPr>
          <a:xfrm>
            <a:off x="1000125" y="3793275"/>
            <a:ext cx="3250406" cy="6858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5E7EB"/>
                </a:solidFill>
              </a:rPr>
              <a:t>Saldırganlar, zayıf kimlik doğrulama veya aşırı yetkili hesaplar aracılığıyla Snowflake ortamına erişim sağlamışlardır. Bulut hizmetlerinin entegre doğası nedeniyle, bir hizmetin ihlali tüm ekosistemi tehlikeye atabilmektedir.</a:t>
            </a:r>
            <a:endParaRPr lang="en-US" sz="780" dirty="0"/>
          </a:p>
        </p:txBody>
      </p:sp>
      <p:sp>
        <p:nvSpPr>
          <p:cNvPr id="19" name="Shape 16"/>
          <p:cNvSpPr/>
          <p:nvPr/>
        </p:nvSpPr>
        <p:spPr>
          <a:xfrm>
            <a:off x="4750594" y="1417476"/>
            <a:ext cx="3536156" cy="1916311"/>
          </a:xfrm>
          <a:prstGeom prst="rect">
            <a:avLst/>
          </a:prstGeom>
          <a:solidFill>
            <a:srgbClr val="EF4444">
              <a:alpha val="5000"/>
            </a:srgbClr>
          </a:solidFill>
          <a:ln w="18288">
            <a:solidFill>
              <a:srgbClr val="EF4444"/>
            </a:solidFill>
            <a:prstDash val="solid"/>
          </a:ln>
        </p:spPr>
      </p:sp>
      <p:pic>
        <p:nvPicPr>
          <p:cNvPr id="20" name="Image 1" descr="preencoded.png">    </p:cNvPr>
          <p:cNvPicPr>
            <a:picLocks noChangeAspect="1"/>
          </p:cNvPicPr>
          <p:nvPr/>
        </p:nvPicPr>
        <p:blipFill>
          <a:blip r:embed="rId2"/>
          <a:stretch>
            <a:fillRect/>
          </a:stretch>
        </p:blipFill>
        <p:spPr>
          <a:xfrm>
            <a:off x="6331148" y="1806811"/>
            <a:ext cx="375047" cy="428625"/>
          </a:xfrm>
          <a:prstGeom prst="rect">
            <a:avLst/>
          </a:prstGeom>
        </p:spPr>
      </p:pic>
      <p:sp>
        <p:nvSpPr>
          <p:cNvPr id="21" name="Text 17"/>
          <p:cNvSpPr/>
          <p:nvPr/>
        </p:nvSpPr>
        <p:spPr>
          <a:xfrm>
            <a:off x="4964906" y="2451534"/>
            <a:ext cx="3107531" cy="571500"/>
          </a:xfrm>
          <a:prstGeom prst="rect">
            <a:avLst/>
          </a:prstGeom>
          <a:noFill/>
          <a:ln/>
        </p:spPr>
        <p:txBody>
          <a:bodyPr wrap="none" lIns="0" tIns="0" rIns="0" bIns="0" rtlCol="0" anchor="t">
            <a:spAutoFit/>
          </a:bodyPr>
          <a:lstStyle/>
          <a:p>
            <a:pPr algn="ctr" indent="0" marL="0">
              <a:lnSpc>
                <a:spcPts val="4500"/>
              </a:lnSpc>
              <a:buNone/>
            </a:pPr>
            <a:r>
              <a:rPr lang="en-US" sz="4145" b="1" dirty="0">
                <a:solidFill>
                  <a:srgbClr val="EF4444"/>
                </a:solidFill>
              </a:rPr>
              <a:t>560M</a:t>
            </a:r>
            <a:endParaRPr lang="en-US" sz="4145" dirty="0"/>
          </a:p>
        </p:txBody>
      </p:sp>
      <p:sp>
        <p:nvSpPr>
          <p:cNvPr id="22" name="Text 18"/>
          <p:cNvSpPr/>
          <p:nvPr/>
        </p:nvSpPr>
        <p:spPr>
          <a:xfrm>
            <a:off x="4964906" y="3137334"/>
            <a:ext cx="3107531"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E5E7EB"/>
                </a:solidFill>
              </a:rPr>
              <a:t>Kişinin Bilgileri Sızdırıldı</a:t>
            </a:r>
            <a:endParaRPr lang="en-US" sz="885" dirty="0"/>
          </a:p>
        </p:txBody>
      </p:sp>
      <p:sp>
        <p:nvSpPr>
          <p:cNvPr id="23" name="Shape 19"/>
          <p:cNvSpPr/>
          <p:nvPr/>
        </p:nvSpPr>
        <p:spPr>
          <a:xfrm>
            <a:off x="4750594" y="3526668"/>
            <a:ext cx="3536156" cy="1117997"/>
          </a:xfrm>
          <a:prstGeom prst="rect">
            <a:avLst/>
          </a:prstGeom>
          <a:solidFill>
            <a:srgbClr val="3B82F6">
              <a:alpha val="10000"/>
            </a:srgbClr>
          </a:solidFill>
          <a:ln w="18288">
            <a:solidFill>
              <a:srgbClr val="3B82F6"/>
            </a:solidFill>
            <a:prstDash val="solid"/>
          </a:ln>
        </p:spPr>
      </p:sp>
      <p:sp>
        <p:nvSpPr>
          <p:cNvPr id="24" name="Text 20"/>
          <p:cNvSpPr/>
          <p:nvPr/>
        </p:nvSpPr>
        <p:spPr>
          <a:xfrm>
            <a:off x="4893469" y="3683831"/>
            <a:ext cx="325040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rPr>
              <a:t>Bulut Ekosistem Riski</a:t>
            </a:r>
            <a:endParaRPr lang="en-US" sz="885" dirty="0"/>
          </a:p>
        </p:txBody>
      </p:sp>
      <p:sp>
        <p:nvSpPr>
          <p:cNvPr id="25" name="Text 21"/>
          <p:cNvSpPr/>
          <p:nvPr/>
        </p:nvSpPr>
        <p:spPr>
          <a:xfrm>
            <a:off x="4893469" y="3944578"/>
            <a:ext cx="3250406" cy="6858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5E7EB"/>
                </a:solidFill>
              </a:rPr>
              <a:t>Snowflake ihlali, kimlik yönetiminin, veri sınıflandırmasının, erişim kontrollerin ve olay müdahale planlarının ne kadar kritik olduğunu vurgulamaktadır. Entegre bulut hizmetlerinde bir zayıflık, zincirleme etki yaratabilir.</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0"/>
            <a:ext cx="8286750" cy="951514"/>
          </a:xfrm>
          <a:prstGeom prst="rect">
            <a:avLst/>
          </a:prstGeom>
          <a:solidFill>
            <a:srgbClr val="000000">
              <a:alpha val="0"/>
            </a:srgbClr>
          </a:solidFill>
          <a:ln/>
        </p:spPr>
      </p:sp>
      <p:sp>
        <p:nvSpPr>
          <p:cNvPr id="4" name="Shape 1"/>
          <p:cNvSpPr/>
          <p:nvPr/>
        </p:nvSpPr>
        <p:spPr>
          <a:xfrm>
            <a:off x="428625" y="0"/>
            <a:ext cx="42863" cy="951514"/>
          </a:xfrm>
          <a:prstGeom prst="rect">
            <a:avLst/>
          </a:prstGeom>
          <a:solidFill>
            <a:srgbClr val="3B82F6"/>
          </a:solidFill>
          <a:ln/>
        </p:spPr>
      </p:sp>
      <p:sp>
        <p:nvSpPr>
          <p:cNvPr id="5" name="Text 2"/>
          <p:cNvSpPr/>
          <p:nvPr/>
        </p:nvSpPr>
        <p:spPr>
          <a:xfrm>
            <a:off x="857250" y="357188"/>
            <a:ext cx="7429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FFFFFF"/>
                </a:solidFill>
              </a:rPr>
              <a:t>Bulut Güvenliğinde Proaktif Yaklaşım ve Devamlı Geliştirme Gerekli</a:t>
            </a:r>
            <a:endParaRPr lang="en-US" sz="1602" dirty="0"/>
          </a:p>
        </p:txBody>
      </p:sp>
      <p:sp>
        <p:nvSpPr>
          <p:cNvPr id="6" name="Shape 3"/>
          <p:cNvSpPr/>
          <p:nvPr/>
        </p:nvSpPr>
        <p:spPr>
          <a:xfrm>
            <a:off x="857250" y="1094389"/>
            <a:ext cx="7429500" cy="474334"/>
          </a:xfrm>
          <a:prstGeom prst="rect">
            <a:avLst/>
          </a:prstGeom>
          <a:solidFill>
            <a:srgbClr val="EF4444">
              <a:alpha val="15000"/>
            </a:srgbClr>
          </a:solidFill>
          <a:ln/>
        </p:spPr>
      </p:sp>
      <p:sp>
        <p:nvSpPr>
          <p:cNvPr id="7" name="Shape 4"/>
          <p:cNvSpPr/>
          <p:nvPr/>
        </p:nvSpPr>
        <p:spPr>
          <a:xfrm>
            <a:off x="857250" y="1094389"/>
            <a:ext cx="28575" cy="474334"/>
          </a:xfrm>
          <a:prstGeom prst="rect">
            <a:avLst/>
          </a:prstGeom>
          <a:solidFill>
            <a:srgbClr val="3B82F6"/>
          </a:solidFill>
          <a:ln/>
        </p:spPr>
      </p:sp>
      <p:sp>
        <p:nvSpPr>
          <p:cNvPr id="8" name="Text 5"/>
          <p:cNvSpPr/>
          <p:nvPr/>
        </p:nvSpPr>
        <p:spPr>
          <a:xfrm>
            <a:off x="1028700" y="1165827"/>
            <a:ext cx="7086600" cy="331459"/>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5E7EB"/>
                </a:solidFill>
              </a:rPr>
              <a:t>2025'teki bulut güvenliği tehditleri, geçmiş yılların sorunlarının daha sofistike versiyonlarıdır. Bulut güvenliğini güçlendirmek için kuruluşlar aşağıdaki stratejik adımları atmalıdır:</a:t>
            </a:r>
            <a:endParaRPr lang="en-US" sz="834" dirty="0"/>
          </a:p>
        </p:txBody>
      </p:sp>
      <p:sp>
        <p:nvSpPr>
          <p:cNvPr id="9" name="Shape 6"/>
          <p:cNvSpPr/>
          <p:nvPr/>
        </p:nvSpPr>
        <p:spPr>
          <a:xfrm>
            <a:off x="857250" y="1697310"/>
            <a:ext cx="3671888" cy="626864"/>
          </a:xfrm>
          <a:prstGeom prst="rect">
            <a:avLst/>
          </a:prstGeom>
          <a:solidFill>
            <a:srgbClr val="3B82F6">
              <a:alpha val="10000"/>
            </a:srgbClr>
          </a:solidFill>
          <a:ln/>
        </p:spPr>
      </p:sp>
      <p:sp>
        <p:nvSpPr>
          <p:cNvPr id="10" name="Shape 7"/>
          <p:cNvSpPr/>
          <p:nvPr/>
        </p:nvSpPr>
        <p:spPr>
          <a:xfrm>
            <a:off x="857250" y="1697310"/>
            <a:ext cx="28575" cy="626864"/>
          </a:xfrm>
          <a:prstGeom prst="rect">
            <a:avLst/>
          </a:prstGeom>
          <a:solidFill>
            <a:srgbClr val="3B82F6"/>
          </a:solidFill>
          <a:ln/>
        </p:spPr>
      </p:sp>
      <p:sp>
        <p:nvSpPr>
          <p:cNvPr id="11" name="Shape 8"/>
          <p:cNvSpPr/>
          <p:nvPr/>
        </p:nvSpPr>
        <p:spPr>
          <a:xfrm>
            <a:off x="985838" y="1768748"/>
            <a:ext cx="285750" cy="285750"/>
          </a:xfrm>
          <a:prstGeom prst="rect">
            <a:avLst/>
          </a:prstGeom>
          <a:solidFill>
            <a:srgbClr val="3B82F6"/>
          </a:solidFill>
          <a:ln/>
        </p:spPr>
      </p:sp>
      <p:sp>
        <p:nvSpPr>
          <p:cNvPr id="12" name="Text 9"/>
          <p:cNvSpPr/>
          <p:nvPr/>
        </p:nvSpPr>
        <p:spPr>
          <a:xfrm>
            <a:off x="985838" y="176874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1</a:t>
            </a:r>
            <a:endParaRPr lang="en-US" sz="885" dirty="0"/>
          </a:p>
        </p:txBody>
      </p:sp>
      <p:sp>
        <p:nvSpPr>
          <p:cNvPr id="13" name="Text 10"/>
          <p:cNvSpPr/>
          <p:nvPr/>
        </p:nvSpPr>
        <p:spPr>
          <a:xfrm>
            <a:off x="1357313" y="1768748"/>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Zero Trust Mimarisi</a:t>
            </a:r>
            <a:endParaRPr lang="en-US" sz="784" dirty="0"/>
          </a:p>
        </p:txBody>
      </p:sp>
      <p:sp>
        <p:nvSpPr>
          <p:cNvPr id="14" name="Text 11"/>
          <p:cNvSpPr/>
          <p:nvPr/>
        </p:nvSpPr>
        <p:spPr>
          <a:xfrm>
            <a:off x="1357313" y="1952699"/>
            <a:ext cx="3043238"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Her erişim talebini doğrulayın, varsayılan olarak güvenilmez kabul edin.</a:t>
            </a:r>
            <a:endParaRPr lang="en-US" sz="727" dirty="0"/>
          </a:p>
        </p:txBody>
      </p:sp>
      <p:sp>
        <p:nvSpPr>
          <p:cNvPr id="15" name="Shape 12"/>
          <p:cNvSpPr/>
          <p:nvPr/>
        </p:nvSpPr>
        <p:spPr>
          <a:xfrm>
            <a:off x="4614863" y="1697310"/>
            <a:ext cx="3671888" cy="626864"/>
          </a:xfrm>
          <a:prstGeom prst="rect">
            <a:avLst/>
          </a:prstGeom>
          <a:solidFill>
            <a:srgbClr val="3B82F6">
              <a:alpha val="10000"/>
            </a:srgbClr>
          </a:solidFill>
          <a:ln/>
        </p:spPr>
      </p:sp>
      <p:sp>
        <p:nvSpPr>
          <p:cNvPr id="16" name="Shape 13"/>
          <p:cNvSpPr/>
          <p:nvPr/>
        </p:nvSpPr>
        <p:spPr>
          <a:xfrm>
            <a:off x="4614863" y="1697310"/>
            <a:ext cx="28575" cy="626864"/>
          </a:xfrm>
          <a:prstGeom prst="rect">
            <a:avLst/>
          </a:prstGeom>
          <a:solidFill>
            <a:srgbClr val="3B82F6"/>
          </a:solidFill>
          <a:ln/>
        </p:spPr>
      </p:sp>
      <p:sp>
        <p:nvSpPr>
          <p:cNvPr id="17" name="Shape 14"/>
          <p:cNvSpPr/>
          <p:nvPr/>
        </p:nvSpPr>
        <p:spPr>
          <a:xfrm>
            <a:off x="4743450" y="1768748"/>
            <a:ext cx="285750" cy="285750"/>
          </a:xfrm>
          <a:prstGeom prst="rect">
            <a:avLst/>
          </a:prstGeom>
          <a:solidFill>
            <a:srgbClr val="3B82F6"/>
          </a:solidFill>
          <a:ln/>
        </p:spPr>
      </p:sp>
      <p:sp>
        <p:nvSpPr>
          <p:cNvPr id="18" name="Text 15"/>
          <p:cNvSpPr/>
          <p:nvPr/>
        </p:nvSpPr>
        <p:spPr>
          <a:xfrm>
            <a:off x="4743450" y="176874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2</a:t>
            </a:r>
            <a:endParaRPr lang="en-US" sz="885" dirty="0"/>
          </a:p>
        </p:txBody>
      </p:sp>
      <p:sp>
        <p:nvSpPr>
          <p:cNvPr id="19" name="Text 16"/>
          <p:cNvSpPr/>
          <p:nvPr/>
        </p:nvSpPr>
        <p:spPr>
          <a:xfrm>
            <a:off x="5114925" y="1768748"/>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Kimlik Yönetimi</a:t>
            </a:r>
            <a:endParaRPr lang="en-US" sz="784" dirty="0"/>
          </a:p>
        </p:txBody>
      </p:sp>
      <p:sp>
        <p:nvSpPr>
          <p:cNvPr id="20" name="Text 17"/>
          <p:cNvSpPr/>
          <p:nvPr/>
        </p:nvSpPr>
        <p:spPr>
          <a:xfrm>
            <a:off x="5114925" y="1952699"/>
            <a:ext cx="3043238"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Çok faktörlü kimlik doğrulama, ayrıcalıklı erişim yönetimi ve kimlik analitikleri uygulayın.</a:t>
            </a:r>
            <a:endParaRPr lang="en-US" sz="727" dirty="0"/>
          </a:p>
        </p:txBody>
      </p:sp>
      <p:sp>
        <p:nvSpPr>
          <p:cNvPr id="21" name="Shape 18"/>
          <p:cNvSpPr/>
          <p:nvPr/>
        </p:nvSpPr>
        <p:spPr>
          <a:xfrm>
            <a:off x="857250" y="2409899"/>
            <a:ext cx="3671888" cy="626864"/>
          </a:xfrm>
          <a:prstGeom prst="rect">
            <a:avLst/>
          </a:prstGeom>
          <a:solidFill>
            <a:srgbClr val="3B82F6">
              <a:alpha val="10000"/>
            </a:srgbClr>
          </a:solidFill>
          <a:ln/>
        </p:spPr>
      </p:sp>
      <p:sp>
        <p:nvSpPr>
          <p:cNvPr id="22" name="Shape 19"/>
          <p:cNvSpPr/>
          <p:nvPr/>
        </p:nvSpPr>
        <p:spPr>
          <a:xfrm>
            <a:off x="857250" y="2409899"/>
            <a:ext cx="28575" cy="626864"/>
          </a:xfrm>
          <a:prstGeom prst="rect">
            <a:avLst/>
          </a:prstGeom>
          <a:solidFill>
            <a:srgbClr val="3B82F6"/>
          </a:solidFill>
          <a:ln/>
        </p:spPr>
      </p:sp>
      <p:sp>
        <p:nvSpPr>
          <p:cNvPr id="23" name="Shape 20"/>
          <p:cNvSpPr/>
          <p:nvPr/>
        </p:nvSpPr>
        <p:spPr>
          <a:xfrm>
            <a:off x="985838" y="2481337"/>
            <a:ext cx="285750" cy="285750"/>
          </a:xfrm>
          <a:prstGeom prst="rect">
            <a:avLst/>
          </a:prstGeom>
          <a:solidFill>
            <a:srgbClr val="3B82F6"/>
          </a:solidFill>
          <a:ln/>
        </p:spPr>
      </p:sp>
      <p:sp>
        <p:nvSpPr>
          <p:cNvPr id="24" name="Text 21"/>
          <p:cNvSpPr/>
          <p:nvPr/>
        </p:nvSpPr>
        <p:spPr>
          <a:xfrm>
            <a:off x="985838" y="2481337"/>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3</a:t>
            </a:r>
            <a:endParaRPr lang="en-US" sz="885" dirty="0"/>
          </a:p>
        </p:txBody>
      </p:sp>
      <p:sp>
        <p:nvSpPr>
          <p:cNvPr id="25" name="Text 22"/>
          <p:cNvSpPr/>
          <p:nvPr/>
        </p:nvSpPr>
        <p:spPr>
          <a:xfrm>
            <a:off x="1357313" y="2481337"/>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Yapılandırma Yönetimi</a:t>
            </a:r>
            <a:endParaRPr lang="en-US" sz="784" dirty="0"/>
          </a:p>
        </p:txBody>
      </p:sp>
      <p:sp>
        <p:nvSpPr>
          <p:cNvPr id="26" name="Text 23"/>
          <p:cNvSpPr/>
          <p:nvPr/>
        </p:nvSpPr>
        <p:spPr>
          <a:xfrm>
            <a:off x="1357313" y="2665288"/>
            <a:ext cx="3043238"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Otomatik taramalar, Infrastructure as Code ve düzenli denetimler gerçekleştirin.</a:t>
            </a:r>
            <a:endParaRPr lang="en-US" sz="727" dirty="0"/>
          </a:p>
        </p:txBody>
      </p:sp>
      <p:sp>
        <p:nvSpPr>
          <p:cNvPr id="27" name="Shape 24"/>
          <p:cNvSpPr/>
          <p:nvPr/>
        </p:nvSpPr>
        <p:spPr>
          <a:xfrm>
            <a:off x="4614863" y="2409899"/>
            <a:ext cx="3671888" cy="626864"/>
          </a:xfrm>
          <a:prstGeom prst="rect">
            <a:avLst/>
          </a:prstGeom>
          <a:solidFill>
            <a:srgbClr val="3B82F6">
              <a:alpha val="10000"/>
            </a:srgbClr>
          </a:solidFill>
          <a:ln/>
        </p:spPr>
      </p:sp>
      <p:sp>
        <p:nvSpPr>
          <p:cNvPr id="28" name="Shape 25"/>
          <p:cNvSpPr/>
          <p:nvPr/>
        </p:nvSpPr>
        <p:spPr>
          <a:xfrm>
            <a:off x="4614863" y="2409899"/>
            <a:ext cx="28575" cy="626864"/>
          </a:xfrm>
          <a:prstGeom prst="rect">
            <a:avLst/>
          </a:prstGeom>
          <a:solidFill>
            <a:srgbClr val="3B82F6"/>
          </a:solidFill>
          <a:ln/>
        </p:spPr>
      </p:sp>
      <p:sp>
        <p:nvSpPr>
          <p:cNvPr id="29" name="Shape 26"/>
          <p:cNvSpPr/>
          <p:nvPr/>
        </p:nvSpPr>
        <p:spPr>
          <a:xfrm>
            <a:off x="4743450" y="2481337"/>
            <a:ext cx="285750" cy="285750"/>
          </a:xfrm>
          <a:prstGeom prst="rect">
            <a:avLst/>
          </a:prstGeom>
          <a:solidFill>
            <a:srgbClr val="3B82F6"/>
          </a:solidFill>
          <a:ln/>
        </p:spPr>
      </p:sp>
      <p:sp>
        <p:nvSpPr>
          <p:cNvPr id="30" name="Text 27"/>
          <p:cNvSpPr/>
          <p:nvPr/>
        </p:nvSpPr>
        <p:spPr>
          <a:xfrm>
            <a:off x="4743450" y="2481337"/>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4</a:t>
            </a:r>
            <a:endParaRPr lang="en-US" sz="885" dirty="0"/>
          </a:p>
        </p:txBody>
      </p:sp>
      <p:sp>
        <p:nvSpPr>
          <p:cNvPr id="31" name="Text 28"/>
          <p:cNvSpPr/>
          <p:nvPr/>
        </p:nvSpPr>
        <p:spPr>
          <a:xfrm>
            <a:off x="5114925" y="2481337"/>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API Güvenliği</a:t>
            </a:r>
            <a:endParaRPr lang="en-US" sz="784" dirty="0"/>
          </a:p>
        </p:txBody>
      </p:sp>
      <p:sp>
        <p:nvSpPr>
          <p:cNvPr id="32" name="Text 29"/>
          <p:cNvSpPr/>
          <p:nvPr/>
        </p:nvSpPr>
        <p:spPr>
          <a:xfrm>
            <a:off x="5114925" y="2665288"/>
            <a:ext cx="304323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Token yönetimi, rate limiting ve API monitöring uygulayın.</a:t>
            </a:r>
            <a:endParaRPr lang="en-US" sz="727" dirty="0"/>
          </a:p>
        </p:txBody>
      </p:sp>
      <p:sp>
        <p:nvSpPr>
          <p:cNvPr id="33" name="Shape 30"/>
          <p:cNvSpPr/>
          <p:nvPr/>
        </p:nvSpPr>
        <p:spPr>
          <a:xfrm>
            <a:off x="857250" y="3122488"/>
            <a:ext cx="3671888" cy="626864"/>
          </a:xfrm>
          <a:prstGeom prst="rect">
            <a:avLst/>
          </a:prstGeom>
          <a:solidFill>
            <a:srgbClr val="3B82F6">
              <a:alpha val="10000"/>
            </a:srgbClr>
          </a:solidFill>
          <a:ln/>
        </p:spPr>
      </p:sp>
      <p:sp>
        <p:nvSpPr>
          <p:cNvPr id="34" name="Shape 31"/>
          <p:cNvSpPr/>
          <p:nvPr/>
        </p:nvSpPr>
        <p:spPr>
          <a:xfrm>
            <a:off x="857250" y="3122488"/>
            <a:ext cx="28575" cy="626864"/>
          </a:xfrm>
          <a:prstGeom prst="rect">
            <a:avLst/>
          </a:prstGeom>
          <a:solidFill>
            <a:srgbClr val="3B82F6"/>
          </a:solidFill>
          <a:ln/>
        </p:spPr>
      </p:sp>
      <p:sp>
        <p:nvSpPr>
          <p:cNvPr id="35" name="Shape 32"/>
          <p:cNvSpPr/>
          <p:nvPr/>
        </p:nvSpPr>
        <p:spPr>
          <a:xfrm>
            <a:off x="985838" y="3193926"/>
            <a:ext cx="285750" cy="285750"/>
          </a:xfrm>
          <a:prstGeom prst="rect">
            <a:avLst/>
          </a:prstGeom>
          <a:solidFill>
            <a:srgbClr val="3B82F6"/>
          </a:solidFill>
          <a:ln/>
        </p:spPr>
      </p:sp>
      <p:sp>
        <p:nvSpPr>
          <p:cNvPr id="36" name="Text 33"/>
          <p:cNvSpPr/>
          <p:nvPr/>
        </p:nvSpPr>
        <p:spPr>
          <a:xfrm>
            <a:off x="985838" y="3193926"/>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5</a:t>
            </a:r>
            <a:endParaRPr lang="en-US" sz="885" dirty="0"/>
          </a:p>
        </p:txBody>
      </p:sp>
      <p:sp>
        <p:nvSpPr>
          <p:cNvPr id="37" name="Text 34"/>
          <p:cNvSpPr/>
          <p:nvPr/>
        </p:nvSpPr>
        <p:spPr>
          <a:xfrm>
            <a:off x="1357313" y="3193926"/>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Veri Koruma</a:t>
            </a:r>
            <a:endParaRPr lang="en-US" sz="784" dirty="0"/>
          </a:p>
        </p:txBody>
      </p:sp>
      <p:sp>
        <p:nvSpPr>
          <p:cNvPr id="38" name="Text 35"/>
          <p:cNvSpPr/>
          <p:nvPr/>
        </p:nvSpPr>
        <p:spPr>
          <a:xfrm>
            <a:off x="1357313" y="3377878"/>
            <a:ext cx="304323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Şifreleme, veri sınıflandırması ve yedekleme stratejileri geliştirin.</a:t>
            </a:r>
            <a:endParaRPr lang="en-US" sz="727" dirty="0"/>
          </a:p>
        </p:txBody>
      </p:sp>
      <p:sp>
        <p:nvSpPr>
          <p:cNvPr id="39" name="Shape 36"/>
          <p:cNvSpPr/>
          <p:nvPr/>
        </p:nvSpPr>
        <p:spPr>
          <a:xfrm>
            <a:off x="4614863" y="3122488"/>
            <a:ext cx="3671888" cy="626864"/>
          </a:xfrm>
          <a:prstGeom prst="rect">
            <a:avLst/>
          </a:prstGeom>
          <a:solidFill>
            <a:srgbClr val="3B82F6">
              <a:alpha val="10000"/>
            </a:srgbClr>
          </a:solidFill>
          <a:ln/>
        </p:spPr>
      </p:sp>
      <p:sp>
        <p:nvSpPr>
          <p:cNvPr id="40" name="Shape 37"/>
          <p:cNvSpPr/>
          <p:nvPr/>
        </p:nvSpPr>
        <p:spPr>
          <a:xfrm>
            <a:off x="4614863" y="3122488"/>
            <a:ext cx="28575" cy="626864"/>
          </a:xfrm>
          <a:prstGeom prst="rect">
            <a:avLst/>
          </a:prstGeom>
          <a:solidFill>
            <a:srgbClr val="3B82F6"/>
          </a:solidFill>
          <a:ln/>
        </p:spPr>
      </p:sp>
      <p:sp>
        <p:nvSpPr>
          <p:cNvPr id="41" name="Shape 38"/>
          <p:cNvSpPr/>
          <p:nvPr/>
        </p:nvSpPr>
        <p:spPr>
          <a:xfrm>
            <a:off x="4743450" y="3193926"/>
            <a:ext cx="285750" cy="285750"/>
          </a:xfrm>
          <a:prstGeom prst="rect">
            <a:avLst/>
          </a:prstGeom>
          <a:solidFill>
            <a:srgbClr val="3B82F6"/>
          </a:solidFill>
          <a:ln/>
        </p:spPr>
      </p:sp>
      <p:sp>
        <p:nvSpPr>
          <p:cNvPr id="42" name="Text 39"/>
          <p:cNvSpPr/>
          <p:nvPr/>
        </p:nvSpPr>
        <p:spPr>
          <a:xfrm>
            <a:off x="4743450" y="3193926"/>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6</a:t>
            </a:r>
            <a:endParaRPr lang="en-US" sz="885" dirty="0"/>
          </a:p>
        </p:txBody>
      </p:sp>
      <p:sp>
        <p:nvSpPr>
          <p:cNvPr id="43" name="Text 40"/>
          <p:cNvSpPr/>
          <p:nvPr/>
        </p:nvSpPr>
        <p:spPr>
          <a:xfrm>
            <a:off x="5114925" y="3193926"/>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Vendor Yönetimi</a:t>
            </a:r>
            <a:endParaRPr lang="en-US" sz="784" dirty="0"/>
          </a:p>
        </p:txBody>
      </p:sp>
      <p:sp>
        <p:nvSpPr>
          <p:cNvPr id="44" name="Text 41"/>
          <p:cNvSpPr/>
          <p:nvPr/>
        </p:nvSpPr>
        <p:spPr>
          <a:xfrm>
            <a:off x="5114925" y="3377878"/>
            <a:ext cx="3043238"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5E7EB"/>
                </a:solidFill>
              </a:rPr>
              <a:t>Bulut hizmet sağlayıcılarını dikkatli seçin, düzenli denetimler yapın.</a:t>
            </a:r>
            <a:endParaRPr lang="en-US" sz="727" dirty="0"/>
          </a:p>
        </p:txBody>
      </p:sp>
      <p:sp>
        <p:nvSpPr>
          <p:cNvPr id="45" name="Shape 42"/>
          <p:cNvSpPr/>
          <p:nvPr/>
        </p:nvSpPr>
        <p:spPr>
          <a:xfrm>
            <a:off x="857250" y="3835078"/>
            <a:ext cx="3671888" cy="476845"/>
          </a:xfrm>
          <a:prstGeom prst="rect">
            <a:avLst/>
          </a:prstGeom>
          <a:solidFill>
            <a:srgbClr val="3B82F6">
              <a:alpha val="10000"/>
            </a:srgbClr>
          </a:solidFill>
          <a:ln/>
        </p:spPr>
      </p:sp>
      <p:sp>
        <p:nvSpPr>
          <p:cNvPr id="46" name="Shape 43"/>
          <p:cNvSpPr/>
          <p:nvPr/>
        </p:nvSpPr>
        <p:spPr>
          <a:xfrm>
            <a:off x="857250" y="3835078"/>
            <a:ext cx="28575" cy="476845"/>
          </a:xfrm>
          <a:prstGeom prst="rect">
            <a:avLst/>
          </a:prstGeom>
          <a:solidFill>
            <a:srgbClr val="3B82F6"/>
          </a:solidFill>
          <a:ln/>
        </p:spPr>
      </p:sp>
      <p:sp>
        <p:nvSpPr>
          <p:cNvPr id="47" name="Shape 44"/>
          <p:cNvSpPr/>
          <p:nvPr/>
        </p:nvSpPr>
        <p:spPr>
          <a:xfrm>
            <a:off x="985838" y="3906515"/>
            <a:ext cx="285750" cy="285750"/>
          </a:xfrm>
          <a:prstGeom prst="rect">
            <a:avLst/>
          </a:prstGeom>
          <a:solidFill>
            <a:srgbClr val="3B82F6"/>
          </a:solidFill>
          <a:ln/>
        </p:spPr>
      </p:sp>
      <p:sp>
        <p:nvSpPr>
          <p:cNvPr id="48" name="Text 45"/>
          <p:cNvSpPr/>
          <p:nvPr/>
        </p:nvSpPr>
        <p:spPr>
          <a:xfrm>
            <a:off x="985838" y="3906515"/>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7</a:t>
            </a:r>
            <a:endParaRPr lang="en-US" sz="885" dirty="0"/>
          </a:p>
        </p:txBody>
      </p:sp>
      <p:sp>
        <p:nvSpPr>
          <p:cNvPr id="49" name="Text 46"/>
          <p:cNvSpPr/>
          <p:nvPr/>
        </p:nvSpPr>
        <p:spPr>
          <a:xfrm>
            <a:off x="1357313" y="3906515"/>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Olay Müdahale</a:t>
            </a:r>
            <a:endParaRPr lang="en-US" sz="784" dirty="0"/>
          </a:p>
        </p:txBody>
      </p:sp>
      <p:sp>
        <p:nvSpPr>
          <p:cNvPr id="50" name="Text 47"/>
          <p:cNvSpPr/>
          <p:nvPr/>
        </p:nvSpPr>
        <p:spPr>
          <a:xfrm>
            <a:off x="1357313" y="4090467"/>
            <a:ext cx="304323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Hızlı tespit, müdahale ve kurtarma planları hazırlayın.</a:t>
            </a:r>
            <a:endParaRPr lang="en-US" sz="727" dirty="0"/>
          </a:p>
        </p:txBody>
      </p:sp>
      <p:sp>
        <p:nvSpPr>
          <p:cNvPr id="51" name="Shape 48"/>
          <p:cNvSpPr/>
          <p:nvPr/>
        </p:nvSpPr>
        <p:spPr>
          <a:xfrm>
            <a:off x="4614863" y="3835078"/>
            <a:ext cx="3671888" cy="476845"/>
          </a:xfrm>
          <a:prstGeom prst="rect">
            <a:avLst/>
          </a:prstGeom>
          <a:solidFill>
            <a:srgbClr val="3B82F6">
              <a:alpha val="10000"/>
            </a:srgbClr>
          </a:solidFill>
          <a:ln/>
        </p:spPr>
      </p:sp>
      <p:sp>
        <p:nvSpPr>
          <p:cNvPr id="52" name="Shape 49"/>
          <p:cNvSpPr/>
          <p:nvPr/>
        </p:nvSpPr>
        <p:spPr>
          <a:xfrm>
            <a:off x="4614863" y="3835078"/>
            <a:ext cx="28575" cy="476845"/>
          </a:xfrm>
          <a:prstGeom prst="rect">
            <a:avLst/>
          </a:prstGeom>
          <a:solidFill>
            <a:srgbClr val="3B82F6"/>
          </a:solidFill>
          <a:ln/>
        </p:spPr>
      </p:sp>
      <p:sp>
        <p:nvSpPr>
          <p:cNvPr id="53" name="Shape 50"/>
          <p:cNvSpPr/>
          <p:nvPr/>
        </p:nvSpPr>
        <p:spPr>
          <a:xfrm>
            <a:off x="4743450" y="3906515"/>
            <a:ext cx="285750" cy="285750"/>
          </a:xfrm>
          <a:prstGeom prst="rect">
            <a:avLst/>
          </a:prstGeom>
          <a:solidFill>
            <a:srgbClr val="3B82F6"/>
          </a:solidFill>
          <a:ln/>
        </p:spPr>
      </p:sp>
      <p:sp>
        <p:nvSpPr>
          <p:cNvPr id="54" name="Text 51"/>
          <p:cNvSpPr/>
          <p:nvPr/>
        </p:nvSpPr>
        <p:spPr>
          <a:xfrm>
            <a:off x="4743450" y="3906515"/>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FFFFFF"/>
                </a:solidFill>
              </a:rPr>
              <a:t>8</a:t>
            </a:r>
            <a:endParaRPr lang="en-US" sz="885" dirty="0"/>
          </a:p>
        </p:txBody>
      </p:sp>
      <p:sp>
        <p:nvSpPr>
          <p:cNvPr id="55" name="Text 52"/>
          <p:cNvSpPr/>
          <p:nvPr/>
        </p:nvSpPr>
        <p:spPr>
          <a:xfrm>
            <a:off x="5114925" y="3906515"/>
            <a:ext cx="3043238"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rPr>
              <a:t>Eğitim ve Farkındalık</a:t>
            </a:r>
            <a:endParaRPr lang="en-US" sz="784" dirty="0"/>
          </a:p>
        </p:txBody>
      </p:sp>
      <p:sp>
        <p:nvSpPr>
          <p:cNvPr id="56" name="Text 53"/>
          <p:cNvSpPr/>
          <p:nvPr/>
        </p:nvSpPr>
        <p:spPr>
          <a:xfrm>
            <a:off x="5114925" y="4090467"/>
            <a:ext cx="304323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E5E7EB"/>
                </a:solidFill>
              </a:rPr>
              <a:t>Çalışanları bulut güvenliği konusunda sürekli eğitin.</a:t>
            </a:r>
            <a:endParaRPr lang="en-US" sz="727" dirty="0"/>
          </a:p>
        </p:txBody>
      </p:sp>
      <p:sp>
        <p:nvSpPr>
          <p:cNvPr id="57" name="Shape 54"/>
          <p:cNvSpPr/>
          <p:nvPr/>
        </p:nvSpPr>
        <p:spPr>
          <a:xfrm>
            <a:off x="857250" y="4440510"/>
            <a:ext cx="7429500" cy="644723"/>
          </a:xfrm>
          <a:prstGeom prst="rect">
            <a:avLst/>
          </a:prstGeom>
          <a:solidFill>
            <a:srgbClr val="3B82F6">
              <a:alpha val="20000"/>
            </a:srgbClr>
          </a:solidFill>
          <a:ln w="9144">
            <a:solidFill>
              <a:srgbClr val="EF4444"/>
            </a:solidFill>
            <a:prstDash val="solid"/>
          </a:ln>
        </p:spPr>
      </p:sp>
      <p:sp>
        <p:nvSpPr>
          <p:cNvPr id="58" name="Text 55"/>
          <p:cNvSpPr/>
          <p:nvPr/>
        </p:nvSpPr>
        <p:spPr>
          <a:xfrm>
            <a:off x="1028700" y="4511948"/>
            <a:ext cx="7086600"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EF4444"/>
                </a:solidFill>
              </a:rPr>
              <a:t>Bulut Güvenliği Devamlı Bir Yolculuktur</a:t>
            </a:r>
            <a:endParaRPr lang="en-US" sz="987" dirty="0"/>
          </a:p>
        </p:txBody>
      </p:sp>
      <p:sp>
        <p:nvSpPr>
          <p:cNvPr id="59" name="Text 56"/>
          <p:cNvSpPr/>
          <p:nvPr/>
        </p:nvSpPr>
        <p:spPr>
          <a:xfrm>
            <a:off x="1028700" y="4749478"/>
            <a:ext cx="7086600" cy="321469"/>
          </a:xfrm>
          <a:prstGeom prst="rect">
            <a:avLst/>
          </a:prstGeom>
          <a:noFill/>
          <a:ln/>
        </p:spPr>
        <p:txBody>
          <a:bodyPr wrap="square" lIns="0" tIns="0" rIns="0" bIns="0" rtlCol="0" anchor="t">
            <a:spAutoFit/>
          </a:bodyPr>
          <a:lstStyle/>
          <a:p>
            <a:pPr algn="ctr" indent="0" marL="0">
              <a:lnSpc>
                <a:spcPts val="1300"/>
              </a:lnSpc>
              <a:buNone/>
            </a:pPr>
            <a:r>
              <a:rPr lang="en-US" sz="780" dirty="0">
                <a:solidFill>
                  <a:srgbClr val="E5E7EB"/>
                </a:solidFill>
              </a:rPr>
              <a:t>Tehdidler evrimleşirken, savunmalar da evrimleşmelidir. Bulut güvenliği bir kerelik proje değil, sürekli iyileştirme gerektiren stratejik bir önceliktir.</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2025-11-27T20:37:49Z</dcterms:created>
  <dcterms:modified xsi:type="dcterms:W3CDTF">2025-11-27T20:37:49Z</dcterms:modified>
</cp:coreProperties>
</file>